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AD963E-1C4A-4E90-8BE2-EC5D29973B50}" v="3" dt="2026-07-26T14:35:44.6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vakalyan bodla" userId="e4ee495b745fea2d" providerId="LiveId" clId="{5FF0BC4B-BBA5-45A4-999D-A58E8C4EA90F}"/>
    <pc:docChg chg="undo custSel modSld">
      <pc:chgData name="shivakalyan bodla" userId="e4ee495b745fea2d" providerId="LiveId" clId="{5FF0BC4B-BBA5-45A4-999D-A58E8C4EA90F}" dt="2026-07-26T14:36:11.986" v="162" actId="1076"/>
      <pc:docMkLst>
        <pc:docMk/>
      </pc:docMkLst>
      <pc:sldChg chg="modSp mod">
        <pc:chgData name="shivakalyan bodla" userId="e4ee495b745fea2d" providerId="LiveId" clId="{5FF0BC4B-BBA5-45A4-999D-A58E8C4EA90F}" dt="2026-07-26T14:35:54.529" v="161" actId="20577"/>
        <pc:sldMkLst>
          <pc:docMk/>
          <pc:sldMk cId="0" sldId="256"/>
        </pc:sldMkLst>
        <pc:spChg chg="mod">
          <ac:chgData name="shivakalyan bodla" userId="e4ee495b745fea2d" providerId="LiveId" clId="{5FF0BC4B-BBA5-45A4-999D-A58E8C4EA90F}" dt="2026-07-26T14:35:54.529" v="161" actId="20577"/>
          <ac:spMkLst>
            <pc:docMk/>
            <pc:sldMk cId="0" sldId="256"/>
            <ac:spMk id="13" creationId="{00000000-0000-0000-0000-000000000000}"/>
          </ac:spMkLst>
        </pc:spChg>
      </pc:sldChg>
      <pc:sldChg chg="modSp mod">
        <pc:chgData name="shivakalyan bodla" userId="e4ee495b745fea2d" providerId="LiveId" clId="{5FF0BC4B-BBA5-45A4-999D-A58E8C4EA90F}" dt="2026-07-26T14:36:11.986" v="162" actId="1076"/>
        <pc:sldMkLst>
          <pc:docMk/>
          <pc:sldMk cId="0" sldId="260"/>
        </pc:sldMkLst>
        <pc:spChg chg="mod">
          <ac:chgData name="shivakalyan bodla" userId="e4ee495b745fea2d" providerId="LiveId" clId="{5FF0BC4B-BBA5-45A4-999D-A58E8C4EA90F}" dt="2026-07-26T14:36:11.986" v="162" actId="1076"/>
          <ac:spMkLst>
            <pc:docMk/>
            <pc:sldMk cId="0" sldId="260"/>
            <ac:spMk id="5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6251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8869680" y="-2103120"/>
            <a:ext cx="5486400" cy="5486400"/>
          </a:xfrm>
          <a:prstGeom prst="ellipse">
            <a:avLst/>
          </a:prstGeom>
          <a:solidFill>
            <a:srgbClr val="0E4C6B"/>
          </a:solidFill>
          <a:ln w="12700">
            <a:solidFill>
              <a:srgbClr val="0E4C6B"/>
            </a:solidFill>
            <a:prstDash val="solid"/>
          </a:ln>
        </p:spPr>
      </p:sp>
      <p:sp>
        <p:nvSpPr>
          <p:cNvPr id="3" name="Shape 1"/>
          <p:cNvSpPr/>
          <p:nvPr/>
        </p:nvSpPr>
        <p:spPr>
          <a:xfrm>
            <a:off x="10241280" y="4206240"/>
            <a:ext cx="3840480" cy="3840480"/>
          </a:xfrm>
          <a:prstGeom prst="ellipse">
            <a:avLst/>
          </a:prstGeom>
          <a:solidFill>
            <a:srgbClr val="1C8C93"/>
          </a:solidFill>
          <a:ln w="12700">
            <a:solidFill>
              <a:srgbClr val="1C8C93"/>
            </a:solidFill>
            <a:prstDash val="solid"/>
          </a:ln>
        </p:spPr>
      </p:sp>
      <p:sp>
        <p:nvSpPr>
          <p:cNvPr id="4" name="Shape 2"/>
          <p:cNvSpPr/>
          <p:nvPr/>
        </p:nvSpPr>
        <p:spPr>
          <a:xfrm>
            <a:off x="868680" y="1005840"/>
            <a:ext cx="201168" cy="201168"/>
          </a:xfrm>
          <a:prstGeom prst="ellipse">
            <a:avLst/>
          </a:prstGeom>
          <a:noFill/>
          <a:ln w="22225">
            <a:solidFill>
              <a:srgbClr val="4FD1C5"/>
            </a:solidFill>
            <a:prstDash val="solid"/>
          </a:ln>
        </p:spPr>
      </p:sp>
      <p:sp>
        <p:nvSpPr>
          <p:cNvPr id="5" name="Shape 3"/>
          <p:cNvSpPr/>
          <p:nvPr/>
        </p:nvSpPr>
        <p:spPr>
          <a:xfrm>
            <a:off x="1691640" y="731520"/>
            <a:ext cx="201168" cy="201168"/>
          </a:xfrm>
          <a:prstGeom prst="ellipse">
            <a:avLst/>
          </a:prstGeom>
          <a:noFill/>
          <a:ln w="22225">
            <a:solidFill>
              <a:srgbClr val="4FD1C5"/>
            </a:solidFill>
            <a:prstDash val="solid"/>
          </a:ln>
        </p:spPr>
      </p:sp>
      <p:sp>
        <p:nvSpPr>
          <p:cNvPr id="6" name="Shape 4"/>
          <p:cNvSpPr/>
          <p:nvPr/>
        </p:nvSpPr>
        <p:spPr>
          <a:xfrm>
            <a:off x="2514600" y="1188720"/>
            <a:ext cx="201168" cy="201168"/>
          </a:xfrm>
          <a:prstGeom prst="ellipse">
            <a:avLst/>
          </a:prstGeom>
          <a:noFill/>
          <a:ln w="22225">
            <a:solidFill>
              <a:srgbClr val="4FD1C5"/>
            </a:solidFill>
            <a:prstDash val="solid"/>
          </a:ln>
        </p:spPr>
      </p:sp>
      <p:sp>
        <p:nvSpPr>
          <p:cNvPr id="7" name="Shape 5"/>
          <p:cNvSpPr/>
          <p:nvPr/>
        </p:nvSpPr>
        <p:spPr>
          <a:xfrm flipV="1">
            <a:off x="969264" y="1005840"/>
            <a:ext cx="822960" cy="274320"/>
          </a:xfrm>
          <a:prstGeom prst="line">
            <a:avLst/>
          </a:prstGeom>
          <a:noFill/>
          <a:ln w="19050">
            <a:solidFill>
              <a:srgbClr val="4FD1C5"/>
            </a:solidFill>
            <a:prstDash val="solid"/>
            <a:tailEnd type="triangle"/>
          </a:ln>
        </p:spPr>
      </p:sp>
      <p:sp>
        <p:nvSpPr>
          <p:cNvPr id="8" name="Shape 6"/>
          <p:cNvSpPr/>
          <p:nvPr/>
        </p:nvSpPr>
        <p:spPr>
          <a:xfrm>
            <a:off x="1792224" y="832104"/>
            <a:ext cx="822960" cy="356616"/>
          </a:xfrm>
          <a:prstGeom prst="line">
            <a:avLst/>
          </a:prstGeom>
          <a:noFill/>
          <a:ln w="19050">
            <a:solidFill>
              <a:srgbClr val="4FD1C5"/>
            </a:solidFill>
            <a:prstDash val="solid"/>
            <a:tailEnd type="triangle"/>
          </a:ln>
        </p:spPr>
      </p:sp>
      <p:sp>
        <p:nvSpPr>
          <p:cNvPr id="9" name="Text 7"/>
          <p:cNvSpPr/>
          <p:nvPr/>
        </p:nvSpPr>
        <p:spPr>
          <a:xfrm>
            <a:off x="822960" y="2286000"/>
            <a:ext cx="9144000" cy="365760"/>
          </a:xfrm>
          <a:prstGeom prst="rect">
            <a:avLst/>
          </a:prstGeom>
          <a:noFill/>
          <a:ln/>
        </p:spPr>
        <p:txBody>
          <a:bodyPr wrap="square" rtlCol="0" anchor="ctr"/>
          <a:lstStyle/>
          <a:p>
            <a:pPr marL="0" indent="0">
              <a:buNone/>
            </a:pPr>
            <a:r>
              <a:rPr lang="en-US" sz="1400" b="1" kern="0" spc="150" dirty="0">
                <a:solidFill>
                  <a:srgbClr val="4FD1C5"/>
                </a:solidFill>
                <a:latin typeface="Calibri" pitchFamily="34" charset="0"/>
                <a:ea typeface="Calibri" pitchFamily="34" charset="-122"/>
                <a:cs typeface="Calibri" pitchFamily="34" charset="-120"/>
              </a:rPr>
              <a:t>CO1 · APPLYING FORMAL PROOFS &amp; AUTOMATA THEORY</a:t>
            </a:r>
            <a:endParaRPr lang="en-US" sz="1400" dirty="0"/>
          </a:p>
        </p:txBody>
      </p:sp>
      <p:sp>
        <p:nvSpPr>
          <p:cNvPr id="10" name="Text 8"/>
          <p:cNvSpPr/>
          <p:nvPr/>
        </p:nvSpPr>
        <p:spPr>
          <a:xfrm>
            <a:off x="777240" y="2651760"/>
            <a:ext cx="10515600" cy="100584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Theory of Computation</a:t>
            </a:r>
            <a:endParaRPr lang="en-US" sz="4600" dirty="0"/>
          </a:p>
        </p:txBody>
      </p:sp>
      <p:sp>
        <p:nvSpPr>
          <p:cNvPr id="11" name="Text 9"/>
          <p:cNvSpPr/>
          <p:nvPr/>
        </p:nvSpPr>
        <p:spPr>
          <a:xfrm>
            <a:off x="822960" y="3611880"/>
            <a:ext cx="9601200" cy="457200"/>
          </a:xfrm>
          <a:prstGeom prst="rect">
            <a:avLst/>
          </a:prstGeom>
          <a:noFill/>
          <a:ln/>
        </p:spPr>
        <p:txBody>
          <a:bodyPr wrap="square" rtlCol="0" anchor="ctr"/>
          <a:lstStyle/>
          <a:p>
            <a:pPr marL="0" indent="0">
              <a:buNone/>
            </a:pPr>
            <a:r>
              <a:rPr lang="en-US" sz="1800" dirty="0">
                <a:solidFill>
                  <a:srgbClr val="EAF4F7"/>
                </a:solidFill>
                <a:latin typeface="Calibri" pitchFamily="34" charset="0"/>
                <a:ea typeface="Calibri" pitchFamily="34" charset="-122"/>
                <a:cs typeface="Calibri" pitchFamily="34" charset="-120"/>
              </a:rPr>
              <a:t>Technical Presentation — Answers to the Assessment Questions</a:t>
            </a:r>
            <a:endParaRPr lang="en-US" sz="1800" dirty="0"/>
          </a:p>
        </p:txBody>
      </p:sp>
      <p:sp>
        <p:nvSpPr>
          <p:cNvPr id="12" name="Shape 10"/>
          <p:cNvSpPr/>
          <p:nvPr/>
        </p:nvSpPr>
        <p:spPr>
          <a:xfrm>
            <a:off x="822960" y="4343400"/>
            <a:ext cx="5120640" cy="1051560"/>
          </a:xfrm>
          <a:prstGeom prst="rect">
            <a:avLst/>
          </a:prstGeom>
          <a:solidFill>
            <a:srgbClr val="0E2A4A"/>
          </a:solidFill>
          <a:ln w="12700">
            <a:solidFill>
              <a:srgbClr val="1A3A5C"/>
            </a:solidFill>
            <a:prstDash val="solid"/>
          </a:ln>
        </p:spPr>
      </p:sp>
      <p:sp>
        <p:nvSpPr>
          <p:cNvPr id="13" name="Text 11"/>
          <p:cNvSpPr/>
          <p:nvPr/>
        </p:nvSpPr>
        <p:spPr>
          <a:xfrm>
            <a:off x="1051560" y="4480560"/>
            <a:ext cx="4754880" cy="822960"/>
          </a:xfrm>
          <a:prstGeom prst="rect">
            <a:avLst/>
          </a:prstGeom>
          <a:noFill/>
          <a:ln/>
        </p:spPr>
        <p:txBody>
          <a:bodyPr wrap="square" lIns="0" tIns="0" rIns="0" bIns="0" rtlCol="0" anchor="ctr"/>
          <a:lstStyle/>
          <a:p>
            <a:pPr>
              <a:lnSpc>
                <a:spcPct val="130000"/>
              </a:lnSpc>
            </a:pPr>
            <a:r>
              <a:rPr lang="en-US" sz="1250" b="1" dirty="0" err="1">
                <a:solidFill>
                  <a:srgbClr val="4FD1C5"/>
                </a:solidFill>
                <a:latin typeface="Calibri" pitchFamily="34" charset="0"/>
                <a:ea typeface="Calibri" pitchFamily="34" charset="-122"/>
                <a:cs typeface="Calibri" pitchFamily="34" charset="-120"/>
              </a:rPr>
              <a:t>Y.Yoganarasimha</a:t>
            </a:r>
            <a:endParaRPr lang="en-US" sz="1250" b="1" dirty="0">
              <a:solidFill>
                <a:srgbClr val="4FD1C5"/>
              </a:solidFill>
              <a:latin typeface="Calibri" pitchFamily="34" charset="0"/>
              <a:ea typeface="Calibri" pitchFamily="34" charset="-122"/>
              <a:cs typeface="Calibri" pitchFamily="34" charset="-120"/>
            </a:endParaRPr>
          </a:p>
          <a:p>
            <a:pPr>
              <a:lnSpc>
                <a:spcPct val="130000"/>
              </a:lnSpc>
            </a:pPr>
            <a:r>
              <a:rPr lang="en-US" sz="1250" b="1" dirty="0">
                <a:solidFill>
                  <a:srgbClr val="4FD1C5"/>
                </a:solidFill>
                <a:latin typeface="Calibri" pitchFamily="34" charset="0"/>
                <a:ea typeface="Calibri" pitchFamily="34" charset="-122"/>
                <a:cs typeface="Calibri" pitchFamily="34" charset="-120"/>
              </a:rPr>
              <a:t>(192311254) </a:t>
            </a:r>
            <a:endParaRPr lang="en-US" sz="1250" dirty="0"/>
          </a:p>
          <a:p>
            <a:pPr marL="0" indent="0">
              <a:lnSpc>
                <a:spcPct val="130000"/>
              </a:lnSpc>
              <a:buNone/>
            </a:pPr>
            <a:r>
              <a:rPr lang="en-US" sz="1250" b="1" dirty="0">
                <a:solidFill>
                  <a:srgbClr val="4FD1C5"/>
                </a:solidFill>
                <a:latin typeface="Calibri" pitchFamily="34" charset="0"/>
                <a:ea typeface="Calibri" pitchFamily="34" charset="-122"/>
                <a:cs typeface="Calibri" pitchFamily="34" charset="-120"/>
              </a:rPr>
              <a:t>Course: </a:t>
            </a:r>
            <a:r>
              <a:rPr lang="en-US" sz="1250" dirty="0">
                <a:solidFill>
                  <a:srgbClr val="FFFFFF"/>
                </a:solidFill>
                <a:latin typeface="Calibri" pitchFamily="34" charset="0"/>
                <a:ea typeface="Calibri" pitchFamily="34" charset="-122"/>
                <a:cs typeface="Calibri" pitchFamily="34" charset="-120"/>
              </a:rPr>
              <a:t>Theory of Computation (CSA13)
</a:t>
            </a:r>
            <a:endParaRPr lang="en-US" sz="1250" dirty="0"/>
          </a:p>
        </p:txBody>
      </p:sp>
      <p:sp>
        <p:nvSpPr>
          <p:cNvPr id="14" name="Text 12"/>
          <p:cNvSpPr/>
          <p:nvPr/>
        </p:nvSpPr>
        <p:spPr>
          <a:xfrm>
            <a:off x="822960" y="6263640"/>
            <a:ext cx="9601200" cy="320040"/>
          </a:xfrm>
          <a:prstGeom prst="rect">
            <a:avLst/>
          </a:prstGeom>
          <a:noFill/>
          <a:ln/>
        </p:spPr>
        <p:txBody>
          <a:bodyPr wrap="square" rtlCol="0" anchor="ctr"/>
          <a:lstStyle/>
          <a:p>
            <a:pPr marL="0" indent="0">
              <a:buNone/>
            </a:pPr>
            <a:r>
              <a:rPr lang="en-US" sz="1050" dirty="0">
                <a:solidFill>
                  <a:srgbClr val="9FB6C9"/>
                </a:solidFill>
                <a:latin typeface="Calibri" pitchFamily="34" charset="0"/>
                <a:ea typeface="Calibri" pitchFamily="34" charset="-122"/>
                <a:cs typeface="Calibri" pitchFamily="34" charset="-120"/>
              </a:rPr>
              <a:t>Department of Computer Science and Engineering  ·  Saveetha School of Engineering</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w="12700">
            <a:solidFill>
              <a:srgbClr val="0B1F3A"/>
            </a:solidFill>
            <a:prstDash val="solid"/>
          </a:ln>
        </p:spPr>
      </p:sp>
      <p:sp>
        <p:nvSpPr>
          <p:cNvPr id="3" name="Text 1"/>
          <p:cNvSpPr/>
          <p:nvPr/>
        </p:nvSpPr>
        <p:spPr>
          <a:xfrm>
            <a:off x="502920" y="146304"/>
            <a:ext cx="2011680" cy="411480"/>
          </a:xfrm>
          <a:prstGeom prst="rect">
            <a:avLst/>
          </a:prstGeom>
          <a:noFill/>
          <a:ln/>
        </p:spPr>
        <p:txBody>
          <a:bodyPr wrap="square" rtlCol="0" anchor="ctr"/>
          <a:lstStyle/>
          <a:p>
            <a:pPr marL="0" indent="0">
              <a:buNone/>
            </a:pPr>
            <a:r>
              <a:rPr lang="en-US" sz="1300" b="1" kern="0" spc="100" dirty="0">
                <a:solidFill>
                  <a:srgbClr val="4FD1C5"/>
                </a:solidFill>
                <a:latin typeface="Calibri" pitchFamily="34" charset="0"/>
                <a:ea typeface="Calibri" pitchFamily="34" charset="-122"/>
                <a:cs typeface="Calibri" pitchFamily="34" charset="-120"/>
              </a:rPr>
              <a:t>QUESTION 1</a:t>
            </a:r>
            <a:endParaRPr lang="en-US" sz="1300" dirty="0"/>
          </a:p>
        </p:txBody>
      </p:sp>
      <p:sp>
        <p:nvSpPr>
          <p:cNvPr id="4" name="Text 2"/>
          <p:cNvSpPr/>
          <p:nvPr/>
        </p:nvSpPr>
        <p:spPr>
          <a:xfrm>
            <a:off x="457200" y="457200"/>
            <a:ext cx="11247120" cy="54864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Converting an NFA into an Equivalent DFA</a:t>
            </a:r>
            <a:endParaRPr lang="en-US" sz="2500" dirty="0"/>
          </a:p>
        </p:txBody>
      </p:sp>
      <p:sp>
        <p:nvSpPr>
          <p:cNvPr id="5" name="Text 3"/>
          <p:cNvSpPr/>
          <p:nvPr/>
        </p:nvSpPr>
        <p:spPr>
          <a:xfrm>
            <a:off x="502920" y="1325880"/>
            <a:ext cx="5394960" cy="320040"/>
          </a:xfrm>
          <a:prstGeom prst="rect">
            <a:avLst/>
          </a:prstGeom>
          <a:noFill/>
          <a:ln/>
        </p:spPr>
        <p:txBody>
          <a:bodyPr wrap="square" rtlCol="0" anchor="ctr"/>
          <a:lstStyle/>
          <a:p>
            <a:pPr marL="0" indent="0">
              <a:buNone/>
            </a:pPr>
            <a:r>
              <a:rPr lang="en-US" sz="1500" b="1" dirty="0">
                <a:solidFill>
                  <a:srgbClr val="0E4C6B"/>
                </a:solidFill>
                <a:latin typeface="Cambria" pitchFamily="34" charset="0"/>
                <a:ea typeface="Cambria" pitchFamily="34" charset="-122"/>
                <a:cs typeface="Cambria" pitchFamily="34" charset="-120"/>
              </a:rPr>
              <a:t>Subset (Powerset) Construction</a:t>
            </a:r>
            <a:endParaRPr lang="en-US" sz="1500" dirty="0"/>
          </a:p>
        </p:txBody>
      </p:sp>
      <p:sp>
        <p:nvSpPr>
          <p:cNvPr id="6" name="Text 4"/>
          <p:cNvSpPr/>
          <p:nvPr/>
        </p:nvSpPr>
        <p:spPr>
          <a:xfrm>
            <a:off x="502920" y="1664208"/>
            <a:ext cx="5394960" cy="594360"/>
          </a:xfrm>
          <a:prstGeom prst="rect">
            <a:avLst/>
          </a:prstGeom>
          <a:noFill/>
          <a:ln/>
        </p:spPr>
        <p:txBody>
          <a:bodyPr wrap="square" rtlCol="0" anchor="ctr"/>
          <a:lstStyle/>
          <a:p>
            <a:pPr marL="0" indent="0">
              <a:lnSpc>
                <a:spcPct val="115000"/>
              </a:lnSpc>
              <a:buNone/>
            </a:pPr>
            <a:r>
              <a:rPr lang="en-US" sz="1250" dirty="0">
                <a:solidFill>
                  <a:srgbClr val="16232E"/>
                </a:solidFill>
                <a:latin typeface="Calibri" pitchFamily="34" charset="0"/>
                <a:ea typeface="Calibri" pitchFamily="34" charset="-122"/>
                <a:cs typeface="Calibri" pitchFamily="34" charset="-120"/>
              </a:rPr>
              <a:t>Every NFA has an equivalent DFA — the reverse is not obvious, but it always holds. Each DFA state represents a </a:t>
            </a:r>
            <a:r>
              <a:rPr lang="en-US" sz="1250" b="1" i="1" dirty="0">
                <a:solidFill>
                  <a:srgbClr val="16232E"/>
                </a:solidFill>
                <a:latin typeface="Calibri" pitchFamily="34" charset="0"/>
                <a:ea typeface="Calibri" pitchFamily="34" charset="-122"/>
                <a:cs typeface="Calibri" pitchFamily="34" charset="-120"/>
              </a:rPr>
              <a:t>set</a:t>
            </a:r>
            <a:r>
              <a:rPr lang="en-US" sz="1250" dirty="0">
                <a:solidFill>
                  <a:srgbClr val="16232E"/>
                </a:solidFill>
                <a:latin typeface="Calibri" pitchFamily="34" charset="0"/>
                <a:ea typeface="Calibri" pitchFamily="34" charset="-122"/>
                <a:cs typeface="Calibri" pitchFamily="34" charset="-120"/>
              </a:rPr>
              <a:t> of NFA states the machine could simultaneously be in.</a:t>
            </a:r>
            <a:endParaRPr lang="en-US" sz="1250" dirty="0"/>
          </a:p>
        </p:txBody>
      </p:sp>
      <p:sp>
        <p:nvSpPr>
          <p:cNvPr id="7" name="Shape 5"/>
          <p:cNvSpPr/>
          <p:nvPr/>
        </p:nvSpPr>
        <p:spPr>
          <a:xfrm>
            <a:off x="502920" y="2395728"/>
            <a:ext cx="274320" cy="274320"/>
          </a:xfrm>
          <a:prstGeom prst="ellipse">
            <a:avLst/>
          </a:prstGeom>
          <a:solidFill>
            <a:srgbClr val="0E4C6B"/>
          </a:solidFill>
          <a:ln w="12700">
            <a:solidFill>
              <a:srgbClr val="0E4C6B"/>
            </a:solidFill>
            <a:prstDash val="solid"/>
          </a:ln>
        </p:spPr>
      </p:sp>
      <p:sp>
        <p:nvSpPr>
          <p:cNvPr id="8" name="Text 6"/>
          <p:cNvSpPr/>
          <p:nvPr/>
        </p:nvSpPr>
        <p:spPr>
          <a:xfrm>
            <a:off x="502920" y="239572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914400" y="2322576"/>
            <a:ext cx="4983480" cy="457200"/>
          </a:xfrm>
          <a:prstGeom prst="rect">
            <a:avLst/>
          </a:prstGeom>
          <a:noFill/>
          <a:ln/>
        </p:spPr>
        <p:txBody>
          <a:bodyPr wrap="square" rtlCol="0" anchor="ctr"/>
          <a:lstStyle/>
          <a:p>
            <a:pPr marL="0" indent="0">
              <a:lnSpc>
                <a:spcPct val="105000"/>
              </a:lnSpc>
              <a:buNone/>
            </a:pPr>
            <a:r>
              <a:rPr lang="en-US" sz="1150" dirty="0">
                <a:solidFill>
                  <a:srgbClr val="16232E"/>
                </a:solidFill>
                <a:latin typeface="Calibri" pitchFamily="34" charset="0"/>
                <a:ea typeface="Calibri" pitchFamily="34" charset="-122"/>
                <a:cs typeface="Calibri" pitchFamily="34" charset="-120"/>
              </a:rPr>
              <a:t>Start state: the DFA's start state is the set {q₀} (its ε-closure).</a:t>
            </a:r>
            <a:endParaRPr lang="en-US" sz="1150" dirty="0"/>
          </a:p>
        </p:txBody>
      </p:sp>
      <p:sp>
        <p:nvSpPr>
          <p:cNvPr id="10" name="Shape 8"/>
          <p:cNvSpPr/>
          <p:nvPr/>
        </p:nvSpPr>
        <p:spPr>
          <a:xfrm>
            <a:off x="502920" y="2962656"/>
            <a:ext cx="274320" cy="274320"/>
          </a:xfrm>
          <a:prstGeom prst="ellipse">
            <a:avLst/>
          </a:prstGeom>
          <a:solidFill>
            <a:srgbClr val="0E4C6B"/>
          </a:solidFill>
          <a:ln w="12700">
            <a:solidFill>
              <a:srgbClr val="0E4C6B"/>
            </a:solidFill>
            <a:prstDash val="solid"/>
          </a:ln>
        </p:spPr>
      </p:sp>
      <p:sp>
        <p:nvSpPr>
          <p:cNvPr id="11" name="Text 9"/>
          <p:cNvSpPr/>
          <p:nvPr/>
        </p:nvSpPr>
        <p:spPr>
          <a:xfrm>
            <a:off x="502920" y="2962656"/>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914400" y="2889504"/>
            <a:ext cx="4983480" cy="457200"/>
          </a:xfrm>
          <a:prstGeom prst="rect">
            <a:avLst/>
          </a:prstGeom>
          <a:noFill/>
          <a:ln/>
        </p:spPr>
        <p:txBody>
          <a:bodyPr wrap="square" rtlCol="0" anchor="ctr"/>
          <a:lstStyle/>
          <a:p>
            <a:pPr marL="0" indent="0">
              <a:lnSpc>
                <a:spcPct val="105000"/>
              </a:lnSpc>
              <a:buNone/>
            </a:pPr>
            <a:r>
              <a:rPr lang="en-US" sz="1150" dirty="0">
                <a:solidFill>
                  <a:srgbClr val="16232E"/>
                </a:solidFill>
                <a:latin typeface="Calibri" pitchFamily="34" charset="0"/>
                <a:ea typeface="Calibri" pitchFamily="34" charset="-122"/>
                <a:cs typeface="Calibri" pitchFamily="34" charset="-120"/>
              </a:rPr>
              <a:t>Transitions: δ'(S, a) = ⋃ δ(q, a) for every q ∈ S — one new state per reachable subset.</a:t>
            </a:r>
            <a:endParaRPr lang="en-US" sz="1150" dirty="0"/>
          </a:p>
        </p:txBody>
      </p:sp>
      <p:sp>
        <p:nvSpPr>
          <p:cNvPr id="13" name="Shape 11"/>
          <p:cNvSpPr/>
          <p:nvPr/>
        </p:nvSpPr>
        <p:spPr>
          <a:xfrm>
            <a:off x="502920" y="3529584"/>
            <a:ext cx="274320" cy="274320"/>
          </a:xfrm>
          <a:prstGeom prst="ellipse">
            <a:avLst/>
          </a:prstGeom>
          <a:solidFill>
            <a:srgbClr val="0E4C6B"/>
          </a:solidFill>
          <a:ln w="12700">
            <a:solidFill>
              <a:srgbClr val="0E4C6B"/>
            </a:solidFill>
            <a:prstDash val="solid"/>
          </a:ln>
        </p:spPr>
      </p:sp>
      <p:sp>
        <p:nvSpPr>
          <p:cNvPr id="14" name="Text 12"/>
          <p:cNvSpPr/>
          <p:nvPr/>
        </p:nvSpPr>
        <p:spPr>
          <a:xfrm>
            <a:off x="502920" y="3529584"/>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3"/>
          <p:cNvSpPr/>
          <p:nvPr/>
        </p:nvSpPr>
        <p:spPr>
          <a:xfrm>
            <a:off x="914400" y="3456432"/>
            <a:ext cx="4983480" cy="457200"/>
          </a:xfrm>
          <a:prstGeom prst="rect">
            <a:avLst/>
          </a:prstGeom>
          <a:noFill/>
          <a:ln/>
        </p:spPr>
        <p:txBody>
          <a:bodyPr wrap="square" rtlCol="0" anchor="ctr"/>
          <a:lstStyle/>
          <a:p>
            <a:pPr marL="0" indent="0">
              <a:lnSpc>
                <a:spcPct val="105000"/>
              </a:lnSpc>
              <a:buNone/>
            </a:pPr>
            <a:r>
              <a:rPr lang="en-US" sz="1150" dirty="0">
                <a:solidFill>
                  <a:srgbClr val="16232E"/>
                </a:solidFill>
                <a:latin typeface="Calibri" pitchFamily="34" charset="0"/>
                <a:ea typeface="Calibri" pitchFamily="34" charset="-122"/>
                <a:cs typeface="Calibri" pitchFamily="34" charset="-120"/>
              </a:rPr>
              <a:t>Final states: any subset S that contains at least one NFA final state.</a:t>
            </a:r>
            <a:endParaRPr lang="en-US" sz="1150" dirty="0"/>
          </a:p>
        </p:txBody>
      </p:sp>
      <p:sp>
        <p:nvSpPr>
          <p:cNvPr id="16" name="Shape 14"/>
          <p:cNvSpPr/>
          <p:nvPr/>
        </p:nvSpPr>
        <p:spPr>
          <a:xfrm>
            <a:off x="502920" y="4096512"/>
            <a:ext cx="274320" cy="274320"/>
          </a:xfrm>
          <a:prstGeom prst="ellipse">
            <a:avLst/>
          </a:prstGeom>
          <a:solidFill>
            <a:srgbClr val="0E4C6B"/>
          </a:solidFill>
          <a:ln w="12700">
            <a:solidFill>
              <a:srgbClr val="0E4C6B"/>
            </a:solidFill>
            <a:prstDash val="solid"/>
          </a:ln>
        </p:spPr>
      </p:sp>
      <p:sp>
        <p:nvSpPr>
          <p:cNvPr id="17" name="Text 15"/>
          <p:cNvSpPr/>
          <p:nvPr/>
        </p:nvSpPr>
        <p:spPr>
          <a:xfrm>
            <a:off x="502920" y="409651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8" name="Text 16"/>
          <p:cNvSpPr/>
          <p:nvPr/>
        </p:nvSpPr>
        <p:spPr>
          <a:xfrm>
            <a:off x="914400" y="4023360"/>
            <a:ext cx="4983480" cy="457200"/>
          </a:xfrm>
          <a:prstGeom prst="rect">
            <a:avLst/>
          </a:prstGeom>
          <a:noFill/>
          <a:ln/>
        </p:spPr>
        <p:txBody>
          <a:bodyPr wrap="square" rtlCol="0" anchor="ctr"/>
          <a:lstStyle/>
          <a:p>
            <a:pPr marL="0" indent="0">
              <a:lnSpc>
                <a:spcPct val="105000"/>
              </a:lnSpc>
              <a:buNone/>
            </a:pPr>
            <a:r>
              <a:rPr lang="en-US" sz="1150" dirty="0">
                <a:solidFill>
                  <a:srgbClr val="16232E"/>
                </a:solidFill>
                <a:latin typeface="Calibri" pitchFamily="34" charset="0"/>
                <a:ea typeface="Calibri" pitchFamily="34" charset="-122"/>
                <a:cs typeface="Calibri" pitchFamily="34" charset="-120"/>
              </a:rPr>
              <a:t>Repeat until no new subsets appear (at most 2ⁿ states for n NFA states).</a:t>
            </a:r>
            <a:endParaRPr lang="en-US" sz="1150" dirty="0"/>
          </a:p>
        </p:txBody>
      </p:sp>
      <p:sp>
        <p:nvSpPr>
          <p:cNvPr id="19" name="Shape 17"/>
          <p:cNvSpPr/>
          <p:nvPr/>
        </p:nvSpPr>
        <p:spPr>
          <a:xfrm>
            <a:off x="502920" y="4690872"/>
            <a:ext cx="5394960" cy="1051560"/>
          </a:xfrm>
          <a:prstGeom prst="rect">
            <a:avLst/>
          </a:prstGeom>
          <a:solidFill>
            <a:srgbClr val="EAF4F7"/>
          </a:solidFill>
          <a:ln w="12700">
            <a:solidFill>
              <a:srgbClr val="EAF4F7"/>
            </a:solidFill>
            <a:prstDash val="solid"/>
          </a:ln>
        </p:spPr>
      </p:sp>
      <p:sp>
        <p:nvSpPr>
          <p:cNvPr id="20" name="Text 18"/>
          <p:cNvSpPr/>
          <p:nvPr/>
        </p:nvSpPr>
        <p:spPr>
          <a:xfrm>
            <a:off x="685800" y="4782312"/>
            <a:ext cx="5029200" cy="868680"/>
          </a:xfrm>
          <a:prstGeom prst="rect">
            <a:avLst/>
          </a:prstGeom>
          <a:noFill/>
          <a:ln/>
        </p:spPr>
        <p:txBody>
          <a:bodyPr wrap="square" lIns="0" tIns="0" rIns="0" bIns="0" rtlCol="0" anchor="ctr"/>
          <a:lstStyle/>
          <a:p>
            <a:pPr marL="0" indent="0">
              <a:lnSpc>
                <a:spcPct val="115000"/>
              </a:lnSpc>
              <a:buNone/>
            </a:pPr>
            <a:r>
              <a:rPr lang="en-US" sz="1100" b="1" dirty="0">
                <a:solidFill>
                  <a:srgbClr val="0E4C6B"/>
                </a:solidFill>
                <a:latin typeface="Calibri" pitchFamily="34" charset="0"/>
                <a:ea typeface="Calibri" pitchFamily="34" charset="-122"/>
                <a:cs typeface="Calibri" pitchFamily="34" charset="-120"/>
              </a:rPr>
              <a:t>Key challenge:  </a:t>
            </a:r>
            <a:r>
              <a:rPr lang="en-US" sz="1100" dirty="0">
                <a:solidFill>
                  <a:srgbClr val="16232E"/>
                </a:solidFill>
                <a:latin typeface="Calibri" pitchFamily="34" charset="0"/>
                <a:ea typeface="Calibri" pitchFamily="34" charset="-122"/>
                <a:cs typeface="Calibri" pitchFamily="34" charset="-120"/>
              </a:rPr>
              <a:t>state-space blow-up — an n-state NFA can require up to 2ⁿ DFA states, many of them unreachable or equivalent. In practice only reachable subsets are built, and the result is often minimised afterward to remove redundant states.</a:t>
            </a:r>
            <a:endParaRPr lang="en-US" sz="1100" dirty="0"/>
          </a:p>
        </p:txBody>
      </p:sp>
      <p:sp>
        <p:nvSpPr>
          <p:cNvPr id="21" name="Text 19"/>
          <p:cNvSpPr/>
          <p:nvPr/>
        </p:nvSpPr>
        <p:spPr>
          <a:xfrm>
            <a:off x="6263640" y="1325880"/>
            <a:ext cx="5394960" cy="457200"/>
          </a:xfrm>
          <a:prstGeom prst="rect">
            <a:avLst/>
          </a:prstGeom>
          <a:noFill/>
          <a:ln/>
        </p:spPr>
        <p:txBody>
          <a:bodyPr wrap="square" rtlCol="0" anchor="ctr"/>
          <a:lstStyle/>
          <a:p>
            <a:pPr marL="0" indent="0">
              <a:buNone/>
            </a:pPr>
            <a:r>
              <a:rPr lang="en-US" sz="1200" b="1" dirty="0">
                <a:solidFill>
                  <a:srgbClr val="0E4C6B"/>
                </a:solidFill>
                <a:latin typeface="Calibri" pitchFamily="34" charset="0"/>
                <a:ea typeface="Calibri" pitchFamily="34" charset="-122"/>
                <a:cs typeface="Calibri" pitchFamily="34" charset="-120"/>
              </a:rPr>
              <a:t>Example — NFA accepting strings ending in ‘01’  (Σ = {0,1})</a:t>
            </a:r>
            <a:endParaRPr lang="en-US" sz="1200" dirty="0"/>
          </a:p>
        </p:txBody>
      </p:sp>
      <p:sp>
        <p:nvSpPr>
          <p:cNvPr id="22" name="Shape 20"/>
          <p:cNvSpPr/>
          <p:nvPr/>
        </p:nvSpPr>
        <p:spPr>
          <a:xfrm>
            <a:off x="6035040" y="2148840"/>
            <a:ext cx="457200" cy="0"/>
          </a:xfrm>
          <a:prstGeom prst="line">
            <a:avLst/>
          </a:prstGeom>
          <a:noFill/>
          <a:ln w="28575">
            <a:solidFill>
              <a:srgbClr val="0E4C6B"/>
            </a:solidFill>
            <a:prstDash val="solid"/>
            <a:tailEnd type="triangle"/>
          </a:ln>
        </p:spPr>
      </p:sp>
      <p:sp>
        <p:nvSpPr>
          <p:cNvPr id="23" name="Shape 21"/>
          <p:cNvSpPr/>
          <p:nvPr/>
        </p:nvSpPr>
        <p:spPr>
          <a:xfrm>
            <a:off x="6492240" y="1783080"/>
            <a:ext cx="731520" cy="731520"/>
          </a:xfrm>
          <a:prstGeom prst="ellipse">
            <a:avLst/>
          </a:prstGeom>
          <a:solidFill>
            <a:srgbClr val="FFFFFF"/>
          </a:solidFill>
          <a:ln w="28575">
            <a:solidFill>
              <a:srgbClr val="0E4C6B"/>
            </a:solidFill>
            <a:prstDash val="solid"/>
          </a:ln>
        </p:spPr>
      </p:sp>
      <p:sp>
        <p:nvSpPr>
          <p:cNvPr id="24" name="Text 22"/>
          <p:cNvSpPr/>
          <p:nvPr/>
        </p:nvSpPr>
        <p:spPr>
          <a:xfrm>
            <a:off x="6492240" y="1783080"/>
            <a:ext cx="731520" cy="731520"/>
          </a:xfrm>
          <a:prstGeom prst="rect">
            <a:avLst/>
          </a:prstGeom>
          <a:noFill/>
          <a:ln/>
        </p:spPr>
        <p:txBody>
          <a:bodyPr wrap="square" lIns="0" tIns="0" rIns="0" bIns="0" rtlCol="0" anchor="ctr"/>
          <a:lstStyle/>
          <a:p>
            <a:pPr marL="0" indent="0" algn="ctr">
              <a:buNone/>
            </a:pPr>
            <a:r>
              <a:rPr lang="en-US" sz="1300" b="1" dirty="0">
                <a:solidFill>
                  <a:srgbClr val="16232E"/>
                </a:solidFill>
                <a:latin typeface="Calibri" pitchFamily="34" charset="0"/>
                <a:ea typeface="Calibri" pitchFamily="34" charset="-122"/>
                <a:cs typeface="Calibri" pitchFamily="34" charset="-120"/>
              </a:rPr>
              <a:t>q0</a:t>
            </a:r>
            <a:endParaRPr lang="en-US" sz="1300" dirty="0"/>
          </a:p>
        </p:txBody>
      </p:sp>
      <p:sp>
        <p:nvSpPr>
          <p:cNvPr id="25" name="Shape 23"/>
          <p:cNvSpPr/>
          <p:nvPr/>
        </p:nvSpPr>
        <p:spPr>
          <a:xfrm>
            <a:off x="8138160" y="1783080"/>
            <a:ext cx="731520" cy="731520"/>
          </a:xfrm>
          <a:prstGeom prst="ellipse">
            <a:avLst/>
          </a:prstGeom>
          <a:solidFill>
            <a:srgbClr val="FFFFFF"/>
          </a:solidFill>
          <a:ln w="28575">
            <a:solidFill>
              <a:srgbClr val="0E4C6B"/>
            </a:solidFill>
            <a:prstDash val="solid"/>
          </a:ln>
        </p:spPr>
      </p:sp>
      <p:sp>
        <p:nvSpPr>
          <p:cNvPr id="26" name="Text 24"/>
          <p:cNvSpPr/>
          <p:nvPr/>
        </p:nvSpPr>
        <p:spPr>
          <a:xfrm>
            <a:off x="8138160" y="1783080"/>
            <a:ext cx="731520" cy="731520"/>
          </a:xfrm>
          <a:prstGeom prst="rect">
            <a:avLst/>
          </a:prstGeom>
          <a:noFill/>
          <a:ln/>
        </p:spPr>
        <p:txBody>
          <a:bodyPr wrap="square" lIns="0" tIns="0" rIns="0" bIns="0" rtlCol="0" anchor="ctr"/>
          <a:lstStyle/>
          <a:p>
            <a:pPr marL="0" indent="0" algn="ctr">
              <a:buNone/>
            </a:pPr>
            <a:r>
              <a:rPr lang="en-US" sz="1300" b="1" dirty="0">
                <a:solidFill>
                  <a:srgbClr val="16232E"/>
                </a:solidFill>
                <a:latin typeface="Calibri" pitchFamily="34" charset="0"/>
                <a:ea typeface="Calibri" pitchFamily="34" charset="-122"/>
                <a:cs typeface="Calibri" pitchFamily="34" charset="-120"/>
              </a:rPr>
              <a:t>q1</a:t>
            </a:r>
            <a:endParaRPr lang="en-US" sz="1300" dirty="0"/>
          </a:p>
        </p:txBody>
      </p:sp>
      <p:sp>
        <p:nvSpPr>
          <p:cNvPr id="27" name="Shape 25"/>
          <p:cNvSpPr/>
          <p:nvPr/>
        </p:nvSpPr>
        <p:spPr>
          <a:xfrm>
            <a:off x="9729216" y="1728216"/>
            <a:ext cx="841248" cy="841248"/>
          </a:xfrm>
          <a:prstGeom prst="ellipse">
            <a:avLst/>
          </a:prstGeom>
          <a:noFill/>
          <a:ln w="19050">
            <a:solidFill>
              <a:srgbClr val="0E4C6B"/>
            </a:solidFill>
            <a:prstDash val="solid"/>
          </a:ln>
        </p:spPr>
      </p:sp>
      <p:sp>
        <p:nvSpPr>
          <p:cNvPr id="28" name="Shape 26"/>
          <p:cNvSpPr/>
          <p:nvPr/>
        </p:nvSpPr>
        <p:spPr>
          <a:xfrm>
            <a:off x="9784080" y="1783080"/>
            <a:ext cx="731520" cy="731520"/>
          </a:xfrm>
          <a:prstGeom prst="ellipse">
            <a:avLst/>
          </a:prstGeom>
          <a:solidFill>
            <a:srgbClr val="FFFFFF"/>
          </a:solidFill>
          <a:ln w="28575">
            <a:solidFill>
              <a:srgbClr val="0E4C6B"/>
            </a:solidFill>
            <a:prstDash val="solid"/>
          </a:ln>
        </p:spPr>
      </p:sp>
      <p:sp>
        <p:nvSpPr>
          <p:cNvPr id="29" name="Text 27"/>
          <p:cNvSpPr/>
          <p:nvPr/>
        </p:nvSpPr>
        <p:spPr>
          <a:xfrm>
            <a:off x="9784080" y="1783080"/>
            <a:ext cx="731520" cy="731520"/>
          </a:xfrm>
          <a:prstGeom prst="rect">
            <a:avLst/>
          </a:prstGeom>
          <a:noFill/>
          <a:ln/>
        </p:spPr>
        <p:txBody>
          <a:bodyPr wrap="square" lIns="0" tIns="0" rIns="0" bIns="0" rtlCol="0" anchor="ctr"/>
          <a:lstStyle/>
          <a:p>
            <a:pPr marL="0" indent="0" algn="ctr">
              <a:buNone/>
            </a:pPr>
            <a:r>
              <a:rPr lang="en-US" sz="1300" b="1" dirty="0">
                <a:solidFill>
                  <a:srgbClr val="16232E"/>
                </a:solidFill>
                <a:latin typeface="Calibri" pitchFamily="34" charset="0"/>
                <a:ea typeface="Calibri" pitchFamily="34" charset="-122"/>
                <a:cs typeface="Calibri" pitchFamily="34" charset="-120"/>
              </a:rPr>
              <a:t>q2</a:t>
            </a:r>
            <a:endParaRPr lang="en-US" sz="1300" dirty="0"/>
          </a:p>
        </p:txBody>
      </p:sp>
      <p:sp>
        <p:nvSpPr>
          <p:cNvPr id="30" name="Shape 28"/>
          <p:cNvSpPr/>
          <p:nvPr/>
        </p:nvSpPr>
        <p:spPr>
          <a:xfrm>
            <a:off x="6565392" y="1325880"/>
            <a:ext cx="585216" cy="457200"/>
          </a:xfrm>
          <a:prstGeom prst="arc">
            <a:avLst>
              <a:gd name="adj1" fmla="val 12000000"/>
              <a:gd name="adj2" fmla="val 20400000"/>
            </a:avLst>
          </a:prstGeom>
          <a:noFill/>
          <a:ln w="25400">
            <a:solidFill>
              <a:srgbClr val="5B6B79"/>
            </a:solidFill>
            <a:prstDash val="solid"/>
          </a:ln>
        </p:spPr>
      </p:sp>
      <p:sp>
        <p:nvSpPr>
          <p:cNvPr id="31" name="Shape 29"/>
          <p:cNvSpPr/>
          <p:nvPr/>
        </p:nvSpPr>
        <p:spPr>
          <a:xfrm rot="6600000">
            <a:off x="7004304" y="1618488"/>
            <a:ext cx="100584" cy="100584"/>
          </a:xfrm>
          <a:prstGeom prst="triangle">
            <a:avLst/>
          </a:prstGeom>
          <a:solidFill>
            <a:srgbClr val="5B6B79"/>
          </a:solidFill>
          <a:ln w="12700">
            <a:solidFill>
              <a:srgbClr val="5B6B79"/>
            </a:solidFill>
            <a:prstDash val="solid"/>
          </a:ln>
        </p:spPr>
      </p:sp>
      <p:sp>
        <p:nvSpPr>
          <p:cNvPr id="32" name="Text 30"/>
          <p:cNvSpPr/>
          <p:nvPr/>
        </p:nvSpPr>
        <p:spPr>
          <a:xfrm>
            <a:off x="6492240" y="1005840"/>
            <a:ext cx="731520" cy="274320"/>
          </a:xfrm>
          <a:prstGeom prst="rect">
            <a:avLst/>
          </a:prstGeom>
          <a:noFill/>
          <a:ln/>
        </p:spPr>
        <p:txBody>
          <a:bodyPr wrap="square" lIns="0" tIns="0" rIns="0" bIns="0" rtlCol="0" anchor="ctr"/>
          <a:lstStyle/>
          <a:p>
            <a:pPr marL="0" indent="0" algn="ctr">
              <a:buNone/>
            </a:pPr>
            <a:r>
              <a:rPr lang="en-US" sz="1150" b="1" dirty="0">
                <a:solidFill>
                  <a:srgbClr val="16232E"/>
                </a:solidFill>
                <a:latin typeface="Calibri" pitchFamily="34" charset="0"/>
                <a:ea typeface="Calibri" pitchFamily="34" charset="-122"/>
                <a:cs typeface="Calibri" pitchFamily="34" charset="-120"/>
              </a:rPr>
              <a:t>0,1</a:t>
            </a:r>
            <a:endParaRPr lang="en-US" sz="1150" dirty="0"/>
          </a:p>
        </p:txBody>
      </p:sp>
      <p:sp>
        <p:nvSpPr>
          <p:cNvPr id="33" name="Shape 31"/>
          <p:cNvSpPr/>
          <p:nvPr/>
        </p:nvSpPr>
        <p:spPr>
          <a:xfrm>
            <a:off x="7242048" y="2148840"/>
            <a:ext cx="877824" cy="9144"/>
          </a:xfrm>
          <a:prstGeom prst="line">
            <a:avLst/>
          </a:prstGeom>
          <a:noFill/>
          <a:ln w="25400">
            <a:solidFill>
              <a:srgbClr val="5B6B79"/>
            </a:solidFill>
            <a:prstDash val="solid"/>
            <a:tailEnd type="triangle"/>
          </a:ln>
        </p:spPr>
      </p:sp>
      <p:sp>
        <p:nvSpPr>
          <p:cNvPr id="34" name="Text 32"/>
          <p:cNvSpPr/>
          <p:nvPr/>
        </p:nvSpPr>
        <p:spPr>
          <a:xfrm>
            <a:off x="7360920" y="1837944"/>
            <a:ext cx="640080" cy="274320"/>
          </a:xfrm>
          <a:prstGeom prst="rect">
            <a:avLst/>
          </a:prstGeom>
          <a:solidFill>
            <a:srgbClr val="EAF4F7"/>
          </a:solidFill>
          <a:ln/>
        </p:spPr>
        <p:txBody>
          <a:bodyPr wrap="square" lIns="0" tIns="0" rIns="0" bIns="0" rtlCol="0" anchor="ctr"/>
          <a:lstStyle/>
          <a:p>
            <a:pPr marL="0" indent="0" algn="ctr">
              <a:buNone/>
            </a:pPr>
            <a:r>
              <a:rPr lang="en-US" sz="1150" b="1" dirty="0">
                <a:solidFill>
                  <a:srgbClr val="16232E"/>
                </a:solidFill>
                <a:latin typeface="Calibri" pitchFamily="34" charset="0"/>
                <a:ea typeface="Calibri" pitchFamily="34" charset="-122"/>
                <a:cs typeface="Calibri" pitchFamily="34" charset="-120"/>
              </a:rPr>
              <a:t>0</a:t>
            </a:r>
            <a:endParaRPr lang="en-US" sz="1150" dirty="0"/>
          </a:p>
        </p:txBody>
      </p:sp>
      <p:sp>
        <p:nvSpPr>
          <p:cNvPr id="35" name="Shape 33"/>
          <p:cNvSpPr/>
          <p:nvPr/>
        </p:nvSpPr>
        <p:spPr>
          <a:xfrm>
            <a:off x="8887968" y="2148840"/>
            <a:ext cx="877824" cy="9144"/>
          </a:xfrm>
          <a:prstGeom prst="line">
            <a:avLst/>
          </a:prstGeom>
          <a:noFill/>
          <a:ln w="25400">
            <a:solidFill>
              <a:srgbClr val="5B6B79"/>
            </a:solidFill>
            <a:prstDash val="solid"/>
            <a:tailEnd type="triangle"/>
          </a:ln>
        </p:spPr>
      </p:sp>
      <p:sp>
        <p:nvSpPr>
          <p:cNvPr id="36" name="Text 34"/>
          <p:cNvSpPr/>
          <p:nvPr/>
        </p:nvSpPr>
        <p:spPr>
          <a:xfrm>
            <a:off x="9006840" y="1837944"/>
            <a:ext cx="640080" cy="274320"/>
          </a:xfrm>
          <a:prstGeom prst="rect">
            <a:avLst/>
          </a:prstGeom>
          <a:solidFill>
            <a:srgbClr val="EAF4F7"/>
          </a:solidFill>
          <a:ln/>
        </p:spPr>
        <p:txBody>
          <a:bodyPr wrap="square" lIns="0" tIns="0" rIns="0" bIns="0" rtlCol="0" anchor="ctr"/>
          <a:lstStyle/>
          <a:p>
            <a:pPr marL="0" indent="0" algn="ctr">
              <a:buNone/>
            </a:pPr>
            <a:r>
              <a:rPr lang="en-US" sz="1150" b="1" dirty="0">
                <a:solidFill>
                  <a:srgbClr val="16232E"/>
                </a:solidFill>
                <a:latin typeface="Calibri" pitchFamily="34" charset="0"/>
                <a:ea typeface="Calibri" pitchFamily="34" charset="-122"/>
                <a:cs typeface="Calibri" pitchFamily="34" charset="-120"/>
              </a:rPr>
              <a:t>1</a:t>
            </a:r>
            <a:endParaRPr lang="en-US" sz="1150" dirty="0"/>
          </a:p>
        </p:txBody>
      </p:sp>
      <p:sp>
        <p:nvSpPr>
          <p:cNvPr id="37" name="Text 35"/>
          <p:cNvSpPr/>
          <p:nvPr/>
        </p:nvSpPr>
        <p:spPr>
          <a:xfrm>
            <a:off x="6263640" y="3703320"/>
            <a:ext cx="5394960" cy="320040"/>
          </a:xfrm>
          <a:prstGeom prst="rect">
            <a:avLst/>
          </a:prstGeom>
          <a:noFill/>
          <a:ln/>
        </p:spPr>
        <p:txBody>
          <a:bodyPr wrap="square" rtlCol="0" anchor="ctr"/>
          <a:lstStyle/>
          <a:p>
            <a:pPr marL="0" indent="0">
              <a:buNone/>
            </a:pPr>
            <a:r>
              <a:rPr lang="en-US" sz="1200" b="1" dirty="0">
                <a:solidFill>
                  <a:srgbClr val="0E4C6B"/>
                </a:solidFill>
                <a:latin typeface="Calibri" pitchFamily="34" charset="0"/>
                <a:ea typeface="Calibri" pitchFamily="34" charset="-122"/>
                <a:cs typeface="Calibri" pitchFamily="34" charset="-120"/>
              </a:rPr>
              <a:t>Equivalent DFA (subset construction)</a:t>
            </a:r>
            <a:endParaRPr lang="en-US" sz="1200" dirty="0"/>
          </a:p>
        </p:txBody>
      </p:sp>
      <p:sp>
        <p:nvSpPr>
          <p:cNvPr id="38" name="Shape 36"/>
          <p:cNvSpPr/>
          <p:nvPr/>
        </p:nvSpPr>
        <p:spPr>
          <a:xfrm>
            <a:off x="5760720" y="4709160"/>
            <a:ext cx="457200" cy="0"/>
          </a:xfrm>
          <a:prstGeom prst="line">
            <a:avLst/>
          </a:prstGeom>
          <a:noFill/>
          <a:ln w="28575">
            <a:solidFill>
              <a:srgbClr val="0E4C6B"/>
            </a:solidFill>
            <a:prstDash val="solid"/>
            <a:tailEnd type="triangle"/>
          </a:ln>
        </p:spPr>
      </p:sp>
      <p:sp>
        <p:nvSpPr>
          <p:cNvPr id="39" name="Shape 37"/>
          <p:cNvSpPr/>
          <p:nvPr/>
        </p:nvSpPr>
        <p:spPr>
          <a:xfrm>
            <a:off x="6217920" y="4251960"/>
            <a:ext cx="914400" cy="914400"/>
          </a:xfrm>
          <a:prstGeom prst="ellipse">
            <a:avLst/>
          </a:prstGeom>
          <a:solidFill>
            <a:srgbClr val="FFFFFF"/>
          </a:solidFill>
          <a:ln w="28575">
            <a:solidFill>
              <a:srgbClr val="0E4C6B"/>
            </a:solidFill>
            <a:prstDash val="solid"/>
          </a:ln>
        </p:spPr>
      </p:sp>
      <p:sp>
        <p:nvSpPr>
          <p:cNvPr id="40" name="Text 38"/>
          <p:cNvSpPr/>
          <p:nvPr/>
        </p:nvSpPr>
        <p:spPr>
          <a:xfrm>
            <a:off x="6217920" y="4251960"/>
            <a:ext cx="914400" cy="914400"/>
          </a:xfrm>
          <a:prstGeom prst="rect">
            <a:avLst/>
          </a:prstGeom>
          <a:noFill/>
          <a:ln/>
        </p:spPr>
        <p:txBody>
          <a:bodyPr wrap="square" lIns="0" tIns="0" rIns="0" bIns="0" rtlCol="0" anchor="ctr"/>
          <a:lstStyle/>
          <a:p>
            <a:pPr marL="0" indent="0" algn="ctr">
              <a:buNone/>
            </a:pPr>
            <a:r>
              <a:rPr lang="en-US" sz="1050" b="1" dirty="0">
                <a:solidFill>
                  <a:srgbClr val="16232E"/>
                </a:solidFill>
                <a:latin typeface="Calibri" pitchFamily="34" charset="0"/>
                <a:ea typeface="Calibri" pitchFamily="34" charset="-122"/>
                <a:cs typeface="Calibri" pitchFamily="34" charset="-120"/>
              </a:rPr>
              <a:t>{q0}</a:t>
            </a:r>
            <a:endParaRPr lang="en-US" sz="1050" dirty="0"/>
          </a:p>
        </p:txBody>
      </p:sp>
      <p:sp>
        <p:nvSpPr>
          <p:cNvPr id="41" name="Shape 39"/>
          <p:cNvSpPr/>
          <p:nvPr/>
        </p:nvSpPr>
        <p:spPr>
          <a:xfrm>
            <a:off x="8046720" y="4251960"/>
            <a:ext cx="914400" cy="914400"/>
          </a:xfrm>
          <a:prstGeom prst="ellipse">
            <a:avLst/>
          </a:prstGeom>
          <a:solidFill>
            <a:srgbClr val="FFFFFF"/>
          </a:solidFill>
          <a:ln w="28575">
            <a:solidFill>
              <a:srgbClr val="0E4C6B"/>
            </a:solidFill>
            <a:prstDash val="solid"/>
          </a:ln>
        </p:spPr>
      </p:sp>
      <p:sp>
        <p:nvSpPr>
          <p:cNvPr id="42" name="Text 40"/>
          <p:cNvSpPr/>
          <p:nvPr/>
        </p:nvSpPr>
        <p:spPr>
          <a:xfrm>
            <a:off x="8046720" y="4251960"/>
            <a:ext cx="914400" cy="914400"/>
          </a:xfrm>
          <a:prstGeom prst="rect">
            <a:avLst/>
          </a:prstGeom>
          <a:noFill/>
          <a:ln/>
        </p:spPr>
        <p:txBody>
          <a:bodyPr wrap="square" lIns="0" tIns="0" rIns="0" bIns="0" rtlCol="0" anchor="ctr"/>
          <a:lstStyle/>
          <a:p>
            <a:pPr marL="0" indent="0" algn="ctr">
              <a:buNone/>
            </a:pPr>
            <a:r>
              <a:rPr lang="en-US" sz="950" b="1" dirty="0">
                <a:solidFill>
                  <a:srgbClr val="16232E"/>
                </a:solidFill>
                <a:latin typeface="Calibri" pitchFamily="34" charset="0"/>
                <a:ea typeface="Calibri" pitchFamily="34" charset="-122"/>
                <a:cs typeface="Calibri" pitchFamily="34" charset="-120"/>
              </a:rPr>
              <a:t>{q0,q1}</a:t>
            </a:r>
            <a:endParaRPr lang="en-US" sz="950" dirty="0"/>
          </a:p>
        </p:txBody>
      </p:sp>
      <p:sp>
        <p:nvSpPr>
          <p:cNvPr id="43" name="Shape 41"/>
          <p:cNvSpPr/>
          <p:nvPr/>
        </p:nvSpPr>
        <p:spPr>
          <a:xfrm>
            <a:off x="7991856" y="5477256"/>
            <a:ext cx="1024128" cy="1024128"/>
          </a:xfrm>
          <a:prstGeom prst="ellipse">
            <a:avLst/>
          </a:prstGeom>
          <a:noFill/>
          <a:ln w="19050">
            <a:solidFill>
              <a:srgbClr val="0E4C6B"/>
            </a:solidFill>
            <a:prstDash val="solid"/>
          </a:ln>
        </p:spPr>
      </p:sp>
      <p:sp>
        <p:nvSpPr>
          <p:cNvPr id="44" name="Shape 42"/>
          <p:cNvSpPr/>
          <p:nvPr/>
        </p:nvSpPr>
        <p:spPr>
          <a:xfrm>
            <a:off x="8046720" y="5532120"/>
            <a:ext cx="914400" cy="914400"/>
          </a:xfrm>
          <a:prstGeom prst="ellipse">
            <a:avLst/>
          </a:prstGeom>
          <a:solidFill>
            <a:srgbClr val="FFFFFF"/>
          </a:solidFill>
          <a:ln w="28575">
            <a:solidFill>
              <a:srgbClr val="0E4C6B"/>
            </a:solidFill>
            <a:prstDash val="solid"/>
          </a:ln>
        </p:spPr>
      </p:sp>
      <p:sp>
        <p:nvSpPr>
          <p:cNvPr id="45" name="Text 43"/>
          <p:cNvSpPr/>
          <p:nvPr/>
        </p:nvSpPr>
        <p:spPr>
          <a:xfrm>
            <a:off x="8046720" y="5532120"/>
            <a:ext cx="914400" cy="914400"/>
          </a:xfrm>
          <a:prstGeom prst="rect">
            <a:avLst/>
          </a:prstGeom>
          <a:noFill/>
          <a:ln/>
        </p:spPr>
        <p:txBody>
          <a:bodyPr wrap="square" lIns="0" tIns="0" rIns="0" bIns="0" rtlCol="0" anchor="ctr"/>
          <a:lstStyle/>
          <a:p>
            <a:pPr marL="0" indent="0" algn="ctr">
              <a:buNone/>
            </a:pPr>
            <a:r>
              <a:rPr lang="en-US" sz="950" b="1" dirty="0">
                <a:solidFill>
                  <a:srgbClr val="16232E"/>
                </a:solidFill>
                <a:latin typeface="Calibri" pitchFamily="34" charset="0"/>
                <a:ea typeface="Calibri" pitchFamily="34" charset="-122"/>
                <a:cs typeface="Calibri" pitchFamily="34" charset="-120"/>
              </a:rPr>
              <a:t>{q0,q2}</a:t>
            </a:r>
            <a:endParaRPr lang="en-US" sz="950" dirty="0"/>
          </a:p>
        </p:txBody>
      </p:sp>
      <p:sp>
        <p:nvSpPr>
          <p:cNvPr id="46" name="Shape 44"/>
          <p:cNvSpPr/>
          <p:nvPr/>
        </p:nvSpPr>
        <p:spPr>
          <a:xfrm>
            <a:off x="6382512" y="3794760"/>
            <a:ext cx="585216" cy="457200"/>
          </a:xfrm>
          <a:prstGeom prst="arc">
            <a:avLst>
              <a:gd name="adj1" fmla="val 12000000"/>
              <a:gd name="adj2" fmla="val 20400000"/>
            </a:avLst>
          </a:prstGeom>
          <a:noFill/>
          <a:ln w="25400">
            <a:solidFill>
              <a:srgbClr val="5B6B79"/>
            </a:solidFill>
            <a:prstDash val="solid"/>
          </a:ln>
        </p:spPr>
      </p:sp>
      <p:sp>
        <p:nvSpPr>
          <p:cNvPr id="47" name="Shape 45"/>
          <p:cNvSpPr/>
          <p:nvPr/>
        </p:nvSpPr>
        <p:spPr>
          <a:xfrm rot="6600000">
            <a:off x="6821424" y="4087368"/>
            <a:ext cx="100584" cy="100584"/>
          </a:xfrm>
          <a:prstGeom prst="triangle">
            <a:avLst/>
          </a:prstGeom>
          <a:solidFill>
            <a:srgbClr val="5B6B79"/>
          </a:solidFill>
          <a:ln w="12700">
            <a:solidFill>
              <a:srgbClr val="5B6B79"/>
            </a:solidFill>
            <a:prstDash val="solid"/>
          </a:ln>
        </p:spPr>
      </p:sp>
      <p:sp>
        <p:nvSpPr>
          <p:cNvPr id="48" name="Text 46"/>
          <p:cNvSpPr/>
          <p:nvPr/>
        </p:nvSpPr>
        <p:spPr>
          <a:xfrm>
            <a:off x="6309360" y="3474720"/>
            <a:ext cx="731520" cy="274320"/>
          </a:xfrm>
          <a:prstGeom prst="rect">
            <a:avLst/>
          </a:prstGeom>
          <a:noFill/>
          <a:ln/>
        </p:spPr>
        <p:txBody>
          <a:bodyPr wrap="square" lIns="0" tIns="0" rIns="0" bIns="0" rtlCol="0" anchor="ctr"/>
          <a:lstStyle/>
          <a:p>
            <a:pPr marL="0" indent="0" algn="ctr">
              <a:buNone/>
            </a:pPr>
            <a:r>
              <a:rPr lang="en-US" sz="1150" b="1" dirty="0">
                <a:solidFill>
                  <a:srgbClr val="16232E"/>
                </a:solidFill>
                <a:latin typeface="Calibri" pitchFamily="34" charset="0"/>
                <a:ea typeface="Calibri" pitchFamily="34" charset="-122"/>
                <a:cs typeface="Calibri" pitchFamily="34" charset="-120"/>
              </a:rPr>
              <a:t>1</a:t>
            </a:r>
            <a:endParaRPr lang="en-US" sz="1150" dirty="0"/>
          </a:p>
        </p:txBody>
      </p:sp>
      <p:sp>
        <p:nvSpPr>
          <p:cNvPr id="49" name="Shape 47"/>
          <p:cNvSpPr/>
          <p:nvPr/>
        </p:nvSpPr>
        <p:spPr>
          <a:xfrm>
            <a:off x="7059168" y="4709160"/>
            <a:ext cx="1060704" cy="9144"/>
          </a:xfrm>
          <a:prstGeom prst="line">
            <a:avLst/>
          </a:prstGeom>
          <a:noFill/>
          <a:ln w="25400">
            <a:solidFill>
              <a:srgbClr val="5B6B79"/>
            </a:solidFill>
            <a:prstDash val="solid"/>
            <a:tailEnd type="triangle"/>
          </a:ln>
        </p:spPr>
      </p:sp>
      <p:sp>
        <p:nvSpPr>
          <p:cNvPr id="50" name="Text 48"/>
          <p:cNvSpPr/>
          <p:nvPr/>
        </p:nvSpPr>
        <p:spPr>
          <a:xfrm>
            <a:off x="7269480" y="4398264"/>
            <a:ext cx="640080" cy="274320"/>
          </a:xfrm>
          <a:prstGeom prst="rect">
            <a:avLst/>
          </a:prstGeom>
          <a:solidFill>
            <a:srgbClr val="EAF4F7"/>
          </a:solidFill>
          <a:ln/>
        </p:spPr>
        <p:txBody>
          <a:bodyPr wrap="square" lIns="0" tIns="0" rIns="0" bIns="0" rtlCol="0" anchor="ctr"/>
          <a:lstStyle/>
          <a:p>
            <a:pPr marL="0" indent="0" algn="ctr">
              <a:buNone/>
            </a:pPr>
            <a:r>
              <a:rPr lang="en-US" sz="1150" b="1" dirty="0">
                <a:solidFill>
                  <a:srgbClr val="16232E"/>
                </a:solidFill>
                <a:latin typeface="Calibri" pitchFamily="34" charset="0"/>
                <a:ea typeface="Calibri" pitchFamily="34" charset="-122"/>
                <a:cs typeface="Calibri" pitchFamily="34" charset="-120"/>
              </a:rPr>
              <a:t>0</a:t>
            </a:r>
            <a:endParaRPr lang="en-US" sz="1150" dirty="0"/>
          </a:p>
        </p:txBody>
      </p:sp>
      <p:sp>
        <p:nvSpPr>
          <p:cNvPr id="51" name="Shape 49"/>
          <p:cNvSpPr/>
          <p:nvPr/>
        </p:nvSpPr>
        <p:spPr>
          <a:xfrm>
            <a:off x="8503920" y="4325112"/>
            <a:ext cx="9144" cy="767182"/>
          </a:xfrm>
          <a:prstGeom prst="line">
            <a:avLst/>
          </a:prstGeom>
          <a:noFill/>
          <a:ln w="25400">
            <a:solidFill>
              <a:srgbClr val="5B6B79"/>
            </a:solidFill>
            <a:prstDash val="solid"/>
            <a:tailEnd type="triangle"/>
          </a:ln>
        </p:spPr>
      </p:sp>
      <p:sp>
        <p:nvSpPr>
          <p:cNvPr id="52" name="Shape 50"/>
          <p:cNvSpPr/>
          <p:nvPr/>
        </p:nvSpPr>
        <p:spPr>
          <a:xfrm>
            <a:off x="8229600" y="3794760"/>
            <a:ext cx="548640" cy="457200"/>
          </a:xfrm>
          <a:prstGeom prst="arc">
            <a:avLst>
              <a:gd name="adj1" fmla="val 12000000"/>
              <a:gd name="adj2" fmla="val 20400000"/>
            </a:avLst>
          </a:prstGeom>
          <a:noFill/>
          <a:ln w="25400">
            <a:solidFill>
              <a:srgbClr val="5B6B79"/>
            </a:solidFill>
            <a:prstDash val="solid"/>
          </a:ln>
        </p:spPr>
      </p:sp>
      <p:sp>
        <p:nvSpPr>
          <p:cNvPr id="53" name="Shape 51"/>
          <p:cNvSpPr/>
          <p:nvPr/>
        </p:nvSpPr>
        <p:spPr>
          <a:xfrm rot="6600000">
            <a:off x="8668512" y="4087368"/>
            <a:ext cx="100584" cy="100584"/>
          </a:xfrm>
          <a:prstGeom prst="triangle">
            <a:avLst/>
          </a:prstGeom>
          <a:solidFill>
            <a:srgbClr val="5B6B79"/>
          </a:solidFill>
          <a:ln w="12700">
            <a:solidFill>
              <a:srgbClr val="5B6B79"/>
            </a:solidFill>
            <a:prstDash val="solid"/>
          </a:ln>
        </p:spPr>
      </p:sp>
      <p:sp>
        <p:nvSpPr>
          <p:cNvPr id="54" name="Text 52"/>
          <p:cNvSpPr/>
          <p:nvPr/>
        </p:nvSpPr>
        <p:spPr>
          <a:xfrm>
            <a:off x="8138160" y="3474720"/>
            <a:ext cx="731520" cy="274320"/>
          </a:xfrm>
          <a:prstGeom prst="rect">
            <a:avLst/>
          </a:prstGeom>
          <a:noFill/>
          <a:ln/>
        </p:spPr>
        <p:txBody>
          <a:bodyPr wrap="square" lIns="0" tIns="0" rIns="0" bIns="0" rtlCol="0" anchor="ctr"/>
          <a:lstStyle/>
          <a:p>
            <a:pPr marL="0" indent="0" algn="ctr">
              <a:buNone/>
            </a:pPr>
            <a:r>
              <a:rPr lang="en-US" sz="1150" b="1" dirty="0">
                <a:solidFill>
                  <a:srgbClr val="16232E"/>
                </a:solidFill>
                <a:latin typeface="Calibri" pitchFamily="34" charset="0"/>
                <a:ea typeface="Calibri" pitchFamily="34" charset="-122"/>
                <a:cs typeface="Calibri" pitchFamily="34" charset="-120"/>
              </a:rPr>
              <a:t>0</a:t>
            </a:r>
            <a:endParaRPr lang="en-US" sz="1150" dirty="0"/>
          </a:p>
        </p:txBody>
      </p:sp>
      <p:sp>
        <p:nvSpPr>
          <p:cNvPr id="55" name="Shape 53"/>
          <p:cNvSpPr/>
          <p:nvPr/>
        </p:nvSpPr>
        <p:spPr>
          <a:xfrm>
            <a:off x="8503920" y="5093208"/>
            <a:ext cx="9144" cy="512064"/>
          </a:xfrm>
          <a:prstGeom prst="line">
            <a:avLst/>
          </a:prstGeom>
          <a:noFill/>
          <a:ln w="25400">
            <a:solidFill>
              <a:srgbClr val="5B6B79"/>
            </a:solidFill>
            <a:prstDash val="solid"/>
            <a:tailEnd type="triangle"/>
          </a:ln>
        </p:spPr>
      </p:sp>
      <p:sp>
        <p:nvSpPr>
          <p:cNvPr id="56" name="Text 54"/>
          <p:cNvSpPr/>
          <p:nvPr/>
        </p:nvSpPr>
        <p:spPr>
          <a:xfrm>
            <a:off x="8183880" y="5038344"/>
            <a:ext cx="640080" cy="274320"/>
          </a:xfrm>
          <a:prstGeom prst="rect">
            <a:avLst/>
          </a:prstGeom>
          <a:solidFill>
            <a:srgbClr val="EAF4F7"/>
          </a:solidFill>
          <a:ln/>
        </p:spPr>
        <p:txBody>
          <a:bodyPr wrap="square" lIns="0" tIns="0" rIns="0" bIns="0" rtlCol="0" anchor="ctr"/>
          <a:lstStyle/>
          <a:p>
            <a:pPr marL="0" indent="0" algn="ctr">
              <a:buNone/>
            </a:pPr>
            <a:r>
              <a:rPr lang="en-US" sz="1150" b="1" dirty="0">
                <a:solidFill>
                  <a:srgbClr val="16232E"/>
                </a:solidFill>
                <a:latin typeface="Calibri" pitchFamily="34" charset="0"/>
                <a:ea typeface="Calibri" pitchFamily="34" charset="-122"/>
                <a:cs typeface="Calibri" pitchFamily="34" charset="-120"/>
              </a:rPr>
              <a:t>1</a:t>
            </a:r>
            <a:endParaRPr lang="en-US" sz="1150" dirty="0"/>
          </a:p>
        </p:txBody>
      </p:sp>
      <p:sp>
        <p:nvSpPr>
          <p:cNvPr id="57" name="Shape 55"/>
          <p:cNvSpPr/>
          <p:nvPr/>
        </p:nvSpPr>
        <p:spPr>
          <a:xfrm>
            <a:off x="8503920" y="5604358"/>
            <a:ext cx="9144" cy="384048"/>
          </a:xfrm>
          <a:prstGeom prst="line">
            <a:avLst/>
          </a:prstGeom>
          <a:noFill/>
          <a:ln w="25400">
            <a:solidFill>
              <a:srgbClr val="5B6B79"/>
            </a:solidFill>
            <a:prstDash val="solid"/>
          </a:ln>
        </p:spPr>
      </p:sp>
      <p:sp>
        <p:nvSpPr>
          <p:cNvPr id="58" name="Shape 56"/>
          <p:cNvSpPr/>
          <p:nvPr/>
        </p:nvSpPr>
        <p:spPr>
          <a:xfrm flipV="1">
            <a:off x="8503920" y="5093208"/>
            <a:ext cx="9144" cy="896112"/>
          </a:xfrm>
          <a:prstGeom prst="line">
            <a:avLst/>
          </a:prstGeom>
          <a:noFill/>
          <a:ln w="25400">
            <a:solidFill>
              <a:srgbClr val="5B6B79"/>
            </a:solidFill>
            <a:prstDash val="solid"/>
            <a:tailEnd type="triangle"/>
          </a:ln>
        </p:spPr>
      </p:sp>
      <p:sp>
        <p:nvSpPr>
          <p:cNvPr id="59" name="Text 57"/>
          <p:cNvSpPr/>
          <p:nvPr/>
        </p:nvSpPr>
        <p:spPr>
          <a:xfrm>
            <a:off x="8138160" y="5696712"/>
            <a:ext cx="731520" cy="274320"/>
          </a:xfrm>
          <a:prstGeom prst="rect">
            <a:avLst/>
          </a:prstGeom>
          <a:solidFill>
            <a:srgbClr val="EAF4F7"/>
          </a:solidFill>
          <a:ln/>
        </p:spPr>
        <p:txBody>
          <a:bodyPr wrap="square" lIns="0" tIns="0" rIns="0" bIns="0" rtlCol="0" anchor="ctr"/>
          <a:lstStyle/>
          <a:p>
            <a:pPr marL="0" indent="0" algn="ctr">
              <a:buNone/>
            </a:pPr>
            <a:r>
              <a:rPr lang="en-US" sz="1150" b="1" dirty="0">
                <a:solidFill>
                  <a:srgbClr val="16232E"/>
                </a:solidFill>
                <a:latin typeface="Calibri" pitchFamily="34" charset="0"/>
                <a:ea typeface="Calibri" pitchFamily="34" charset="-122"/>
                <a:cs typeface="Calibri" pitchFamily="34" charset="-120"/>
              </a:rPr>
              <a:t>0</a:t>
            </a:r>
            <a:endParaRPr lang="en-US" sz="1150" dirty="0"/>
          </a:p>
        </p:txBody>
      </p:sp>
      <p:sp>
        <p:nvSpPr>
          <p:cNvPr id="60" name="Shape 58"/>
          <p:cNvSpPr/>
          <p:nvPr/>
        </p:nvSpPr>
        <p:spPr>
          <a:xfrm flipH="1" flipV="1">
            <a:off x="7589520" y="5028286"/>
            <a:ext cx="599776" cy="739883"/>
          </a:xfrm>
          <a:prstGeom prst="line">
            <a:avLst/>
          </a:prstGeom>
          <a:noFill/>
          <a:ln w="25400">
            <a:solidFill>
              <a:srgbClr val="5B6B79"/>
            </a:solidFill>
            <a:prstDash val="solid"/>
          </a:ln>
        </p:spPr>
      </p:sp>
      <p:sp>
        <p:nvSpPr>
          <p:cNvPr id="61" name="Shape 59"/>
          <p:cNvSpPr/>
          <p:nvPr/>
        </p:nvSpPr>
        <p:spPr>
          <a:xfrm flipH="1" flipV="1">
            <a:off x="6989744" y="4929397"/>
            <a:ext cx="599776" cy="99803"/>
          </a:xfrm>
          <a:prstGeom prst="line">
            <a:avLst/>
          </a:prstGeom>
          <a:noFill/>
          <a:ln w="25400">
            <a:solidFill>
              <a:srgbClr val="5B6B79"/>
            </a:solidFill>
            <a:prstDash val="solid"/>
            <a:tailEnd type="triangle"/>
          </a:ln>
        </p:spPr>
      </p:sp>
      <p:sp>
        <p:nvSpPr>
          <p:cNvPr id="62" name="Text 60"/>
          <p:cNvSpPr/>
          <p:nvPr/>
        </p:nvSpPr>
        <p:spPr>
          <a:xfrm>
            <a:off x="7223760" y="4736592"/>
            <a:ext cx="731520" cy="274320"/>
          </a:xfrm>
          <a:prstGeom prst="rect">
            <a:avLst/>
          </a:prstGeom>
          <a:solidFill>
            <a:srgbClr val="EAF4F7"/>
          </a:solidFill>
          <a:ln/>
        </p:spPr>
        <p:txBody>
          <a:bodyPr wrap="square" lIns="0" tIns="0" rIns="0" bIns="0" rtlCol="0" anchor="ctr"/>
          <a:lstStyle/>
          <a:p>
            <a:pPr marL="0" indent="0" algn="ctr">
              <a:buNone/>
            </a:pPr>
            <a:r>
              <a:rPr lang="en-US" sz="1150" b="1" dirty="0">
                <a:solidFill>
                  <a:srgbClr val="16232E"/>
                </a:solidFill>
                <a:latin typeface="Calibri" pitchFamily="34" charset="0"/>
                <a:ea typeface="Calibri" pitchFamily="34" charset="-122"/>
                <a:cs typeface="Calibri" pitchFamily="34" charset="-120"/>
              </a:rPr>
              <a:t>1</a:t>
            </a:r>
            <a:endParaRPr lang="en-US" sz="1150" dirty="0"/>
          </a:p>
        </p:txBody>
      </p:sp>
      <p:sp>
        <p:nvSpPr>
          <p:cNvPr id="63" name="Text 61"/>
          <p:cNvSpPr/>
          <p:nvPr/>
        </p:nvSpPr>
        <p:spPr>
          <a:xfrm>
            <a:off x="457200" y="6528816"/>
            <a:ext cx="7772400" cy="274320"/>
          </a:xfrm>
          <a:prstGeom prst="rect">
            <a:avLst/>
          </a:prstGeom>
          <a:noFill/>
          <a:ln/>
        </p:spPr>
        <p:txBody>
          <a:bodyPr wrap="square" rtlCol="0" anchor="ctr"/>
          <a:lstStyle/>
          <a:p>
            <a:pPr marL="0" indent="0">
              <a:buNone/>
            </a:pPr>
            <a:r>
              <a:rPr lang="en-US" sz="950" dirty="0">
                <a:solidFill>
                  <a:srgbClr val="5B6B79"/>
                </a:solidFill>
                <a:latin typeface="Calibri" pitchFamily="34" charset="0"/>
                <a:ea typeface="Calibri" pitchFamily="34" charset="-122"/>
                <a:cs typeface="Calibri" pitchFamily="34" charset="-120"/>
              </a:rPr>
              <a:t>CO1 · Theory of Computation (CSA13) · Technical Presentation</a:t>
            </a:r>
            <a:endParaRPr lang="en-US" sz="950" dirty="0"/>
          </a:p>
        </p:txBody>
      </p:sp>
      <p:sp>
        <p:nvSpPr>
          <p:cNvPr id="64" name="Text 62"/>
          <p:cNvSpPr/>
          <p:nvPr/>
        </p:nvSpPr>
        <p:spPr>
          <a:xfrm>
            <a:off x="11430000" y="6528816"/>
            <a:ext cx="365760" cy="274320"/>
          </a:xfrm>
          <a:prstGeom prst="rect">
            <a:avLst/>
          </a:prstGeom>
          <a:noFill/>
          <a:ln/>
        </p:spPr>
        <p:txBody>
          <a:bodyPr wrap="square" rtlCol="0" anchor="ctr"/>
          <a:lstStyle/>
          <a:p>
            <a:pPr marL="0" indent="0" algn="r">
              <a:buNone/>
            </a:pPr>
            <a:r>
              <a:rPr lang="en-US" sz="950" dirty="0">
                <a:solidFill>
                  <a:srgbClr val="5B6B79"/>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w="12700">
            <a:solidFill>
              <a:srgbClr val="0B1F3A"/>
            </a:solidFill>
            <a:prstDash val="solid"/>
          </a:ln>
        </p:spPr>
      </p:sp>
      <p:sp>
        <p:nvSpPr>
          <p:cNvPr id="3" name="Text 1"/>
          <p:cNvSpPr/>
          <p:nvPr/>
        </p:nvSpPr>
        <p:spPr>
          <a:xfrm>
            <a:off x="502920" y="146304"/>
            <a:ext cx="2011680" cy="411480"/>
          </a:xfrm>
          <a:prstGeom prst="rect">
            <a:avLst/>
          </a:prstGeom>
          <a:noFill/>
          <a:ln/>
        </p:spPr>
        <p:txBody>
          <a:bodyPr wrap="square" rtlCol="0" anchor="ctr"/>
          <a:lstStyle/>
          <a:p>
            <a:pPr marL="0" indent="0">
              <a:buNone/>
            </a:pPr>
            <a:r>
              <a:rPr lang="en-US" sz="1300" b="1" kern="0" spc="100" dirty="0">
                <a:solidFill>
                  <a:srgbClr val="4FD1C5"/>
                </a:solidFill>
                <a:latin typeface="Calibri" pitchFamily="34" charset="0"/>
                <a:ea typeface="Calibri" pitchFamily="34" charset="-122"/>
                <a:cs typeface="Calibri" pitchFamily="34" charset="-120"/>
              </a:rPr>
              <a:t>QUESTION 2</a:t>
            </a:r>
            <a:endParaRPr lang="en-US" sz="1300" dirty="0"/>
          </a:p>
        </p:txBody>
      </p:sp>
      <p:sp>
        <p:nvSpPr>
          <p:cNvPr id="4" name="Text 2"/>
          <p:cNvSpPr/>
          <p:nvPr/>
        </p:nvSpPr>
        <p:spPr>
          <a:xfrm>
            <a:off x="457200" y="457200"/>
            <a:ext cx="11247120" cy="54864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Mathematical Induction on Strings and Languages</a:t>
            </a:r>
            <a:endParaRPr lang="en-US" sz="2500" dirty="0"/>
          </a:p>
        </p:txBody>
      </p:sp>
      <p:sp>
        <p:nvSpPr>
          <p:cNvPr id="5" name="Text 3"/>
          <p:cNvSpPr/>
          <p:nvPr/>
        </p:nvSpPr>
        <p:spPr>
          <a:xfrm>
            <a:off x="502920" y="1280160"/>
            <a:ext cx="11155680" cy="548640"/>
          </a:xfrm>
          <a:prstGeom prst="rect">
            <a:avLst/>
          </a:prstGeom>
          <a:noFill/>
          <a:ln/>
        </p:spPr>
        <p:txBody>
          <a:bodyPr wrap="square" rtlCol="0" anchor="ctr"/>
          <a:lstStyle/>
          <a:p>
            <a:pPr marL="0" indent="0">
              <a:lnSpc>
                <a:spcPct val="115000"/>
              </a:lnSpc>
              <a:buNone/>
            </a:pPr>
            <a:r>
              <a:rPr lang="en-US" sz="1250" dirty="0">
                <a:solidFill>
                  <a:srgbClr val="16232E"/>
                </a:solidFill>
                <a:latin typeface="Calibri" pitchFamily="34" charset="0"/>
                <a:ea typeface="Calibri" pitchFamily="34" charset="-122"/>
                <a:cs typeface="Calibri" pitchFamily="34" charset="-120"/>
              </a:rPr>
              <a:t>Induction proves a statement P(n) holds for </a:t>
            </a:r>
            <a:r>
              <a:rPr lang="en-US" sz="1250" b="1" i="1" dirty="0">
                <a:solidFill>
                  <a:srgbClr val="16232E"/>
                </a:solidFill>
                <a:latin typeface="Calibri" pitchFamily="34" charset="0"/>
                <a:ea typeface="Calibri" pitchFamily="34" charset="-122"/>
                <a:cs typeface="Calibri" pitchFamily="34" charset="-120"/>
              </a:rPr>
              <a:t>every</a:t>
            </a:r>
            <a:r>
              <a:rPr lang="en-US" sz="1250" dirty="0">
                <a:solidFill>
                  <a:srgbClr val="16232E"/>
                </a:solidFill>
                <a:latin typeface="Calibri" pitchFamily="34" charset="0"/>
                <a:ea typeface="Calibri" pitchFamily="34" charset="-122"/>
                <a:cs typeface="Calibri" pitchFamily="34" charset="-120"/>
              </a:rPr>
              <a:t> positive integer n by proving a single base case and one implication step, instead of checking every value.  In automata theory it proves properties of strings (e.g. pumping-type claims), of languages, and of constructions like the one below.</a:t>
            </a:r>
            <a:endParaRPr lang="en-US" sz="1250" dirty="0"/>
          </a:p>
        </p:txBody>
      </p:sp>
      <p:sp>
        <p:nvSpPr>
          <p:cNvPr id="6" name="Shape 4"/>
          <p:cNvSpPr/>
          <p:nvPr/>
        </p:nvSpPr>
        <p:spPr>
          <a:xfrm>
            <a:off x="502920" y="1920240"/>
            <a:ext cx="11155680" cy="566928"/>
          </a:xfrm>
          <a:prstGeom prst="rect">
            <a:avLst/>
          </a:prstGeom>
          <a:solidFill>
            <a:srgbClr val="0B1F3A"/>
          </a:solidFill>
          <a:ln w="12700">
            <a:solidFill>
              <a:srgbClr val="0B1F3A"/>
            </a:solidFill>
            <a:prstDash val="solid"/>
          </a:ln>
        </p:spPr>
      </p:sp>
      <p:sp>
        <p:nvSpPr>
          <p:cNvPr id="7" name="Text 5"/>
          <p:cNvSpPr/>
          <p:nvPr/>
        </p:nvSpPr>
        <p:spPr>
          <a:xfrm>
            <a:off x="502920" y="1920240"/>
            <a:ext cx="11155680"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Claim:   ∑ᵢ₌₁ⁿ i²  =  n(n+1)(2n+1) / 6      for all n ≥ 1</a:t>
            </a:r>
            <a:endParaRPr lang="en-US" sz="1500" dirty="0"/>
          </a:p>
        </p:txBody>
      </p:sp>
      <p:sp>
        <p:nvSpPr>
          <p:cNvPr id="8" name="Shape 6"/>
          <p:cNvSpPr/>
          <p:nvPr/>
        </p:nvSpPr>
        <p:spPr>
          <a:xfrm>
            <a:off x="502920" y="2743200"/>
            <a:ext cx="2606040" cy="3246120"/>
          </a:xfrm>
          <a:prstGeom prst="rect">
            <a:avLst/>
          </a:prstGeom>
          <a:solidFill>
            <a:srgbClr val="EAF4F7"/>
          </a:solidFill>
          <a:ln w="15875">
            <a:solidFill>
              <a:srgbClr val="0E4C6B"/>
            </a:solidFill>
            <a:prstDash val="solid"/>
          </a:ln>
        </p:spPr>
      </p:sp>
      <p:sp>
        <p:nvSpPr>
          <p:cNvPr id="9" name="Shape 7"/>
          <p:cNvSpPr/>
          <p:nvPr/>
        </p:nvSpPr>
        <p:spPr>
          <a:xfrm>
            <a:off x="1549908" y="2487168"/>
            <a:ext cx="512064" cy="512064"/>
          </a:xfrm>
          <a:prstGeom prst="ellipse">
            <a:avLst/>
          </a:prstGeom>
          <a:solidFill>
            <a:srgbClr val="0E4C6B"/>
          </a:solidFill>
          <a:ln w="25400">
            <a:solidFill>
              <a:srgbClr val="FFFFFF"/>
            </a:solidFill>
            <a:prstDash val="solid"/>
          </a:ln>
        </p:spPr>
      </p:sp>
      <p:sp>
        <p:nvSpPr>
          <p:cNvPr id="10" name="Text 8"/>
          <p:cNvSpPr/>
          <p:nvPr/>
        </p:nvSpPr>
        <p:spPr>
          <a:xfrm>
            <a:off x="1549908" y="2487168"/>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1" name="Text 9"/>
          <p:cNvSpPr/>
          <p:nvPr/>
        </p:nvSpPr>
        <p:spPr>
          <a:xfrm>
            <a:off x="640080" y="3108960"/>
            <a:ext cx="2331720" cy="502920"/>
          </a:xfrm>
          <a:prstGeom prst="rect">
            <a:avLst/>
          </a:prstGeom>
          <a:noFill/>
          <a:ln/>
        </p:spPr>
        <p:txBody>
          <a:bodyPr wrap="square" rtlCol="0" anchor="ctr"/>
          <a:lstStyle/>
          <a:p>
            <a:pPr marL="0" indent="0" algn="ctr">
              <a:buNone/>
            </a:pPr>
            <a:r>
              <a:rPr lang="en-US" sz="1350" b="1" dirty="0">
                <a:solidFill>
                  <a:srgbClr val="0E4C6B"/>
                </a:solidFill>
                <a:latin typeface="Cambria" pitchFamily="34" charset="0"/>
                <a:ea typeface="Cambria" pitchFamily="34" charset="-122"/>
                <a:cs typeface="Cambria" pitchFamily="34" charset="-120"/>
              </a:rPr>
              <a:t>Base Case</a:t>
            </a:r>
            <a:endParaRPr lang="en-US" sz="1350" dirty="0"/>
          </a:p>
        </p:txBody>
      </p:sp>
      <p:sp>
        <p:nvSpPr>
          <p:cNvPr id="12" name="Text 10"/>
          <p:cNvSpPr/>
          <p:nvPr/>
        </p:nvSpPr>
        <p:spPr>
          <a:xfrm>
            <a:off x="667512" y="3703320"/>
            <a:ext cx="2276856" cy="2148840"/>
          </a:xfrm>
          <a:prstGeom prst="rect">
            <a:avLst/>
          </a:prstGeom>
          <a:noFill/>
          <a:ln/>
        </p:spPr>
        <p:txBody>
          <a:bodyPr wrap="square" rtlCol="0" anchor="ctr"/>
          <a:lstStyle/>
          <a:p>
            <a:pPr marL="0" indent="0">
              <a:lnSpc>
                <a:spcPct val="125000"/>
              </a:lnSpc>
              <a:buNone/>
            </a:pPr>
            <a:r>
              <a:rPr lang="en-US" sz="1050" dirty="0">
                <a:solidFill>
                  <a:srgbClr val="16232E"/>
                </a:solidFill>
                <a:latin typeface="Courier New" pitchFamily="34" charset="0"/>
                <a:ea typeface="Courier New" pitchFamily="34" charset="-122"/>
                <a:cs typeface="Courier New" pitchFamily="34" charset="-120"/>
              </a:rPr>
              <a:t>n = 1:  LHS = 1² = 1.  RHS = 1(2)(3)/6 = 1.</a:t>
            </a:r>
            <a:endParaRPr lang="en-US" sz="1050" dirty="0"/>
          </a:p>
          <a:p>
            <a:pPr marL="0" indent="0">
              <a:lnSpc>
                <a:spcPct val="125000"/>
              </a:lnSpc>
              <a:buNone/>
            </a:pPr>
            <a:r>
              <a:rPr lang="en-US" sz="1050" dirty="0">
                <a:solidFill>
                  <a:srgbClr val="16232E"/>
                </a:solidFill>
                <a:latin typeface="Courier New" pitchFamily="34" charset="0"/>
                <a:ea typeface="Courier New" pitchFamily="34" charset="-122"/>
                <a:cs typeface="Courier New" pitchFamily="34" charset="-120"/>
              </a:rPr>
              <a:t>LHS = RHS, so P(1) holds.</a:t>
            </a:r>
            <a:endParaRPr lang="en-US" sz="1050" dirty="0"/>
          </a:p>
        </p:txBody>
      </p:sp>
      <p:sp>
        <p:nvSpPr>
          <p:cNvPr id="13" name="Shape 11"/>
          <p:cNvSpPr/>
          <p:nvPr/>
        </p:nvSpPr>
        <p:spPr>
          <a:xfrm>
            <a:off x="3108960" y="4357116"/>
            <a:ext cx="164592" cy="18288"/>
          </a:xfrm>
          <a:prstGeom prst="line">
            <a:avLst/>
          </a:prstGeom>
          <a:noFill/>
          <a:ln w="25400">
            <a:solidFill>
              <a:srgbClr val="5B6B79"/>
            </a:solidFill>
            <a:prstDash val="solid"/>
            <a:tailEnd type="triangle"/>
          </a:ln>
        </p:spPr>
      </p:sp>
      <p:sp>
        <p:nvSpPr>
          <p:cNvPr id="14" name="Shape 12"/>
          <p:cNvSpPr/>
          <p:nvPr/>
        </p:nvSpPr>
        <p:spPr>
          <a:xfrm>
            <a:off x="3273552" y="2743200"/>
            <a:ext cx="2606040" cy="3246120"/>
          </a:xfrm>
          <a:prstGeom prst="rect">
            <a:avLst/>
          </a:prstGeom>
          <a:solidFill>
            <a:srgbClr val="EAF4F7"/>
          </a:solidFill>
          <a:ln w="15875">
            <a:solidFill>
              <a:srgbClr val="1C8C93"/>
            </a:solidFill>
            <a:prstDash val="solid"/>
          </a:ln>
        </p:spPr>
      </p:sp>
      <p:sp>
        <p:nvSpPr>
          <p:cNvPr id="15" name="Shape 13"/>
          <p:cNvSpPr/>
          <p:nvPr/>
        </p:nvSpPr>
        <p:spPr>
          <a:xfrm>
            <a:off x="4320540" y="2487168"/>
            <a:ext cx="512064" cy="512064"/>
          </a:xfrm>
          <a:prstGeom prst="ellipse">
            <a:avLst/>
          </a:prstGeom>
          <a:solidFill>
            <a:srgbClr val="1C8C93"/>
          </a:solidFill>
          <a:ln w="25400">
            <a:solidFill>
              <a:srgbClr val="FFFFFF"/>
            </a:solidFill>
            <a:prstDash val="solid"/>
          </a:ln>
        </p:spPr>
      </p:sp>
      <p:sp>
        <p:nvSpPr>
          <p:cNvPr id="16" name="Text 14"/>
          <p:cNvSpPr/>
          <p:nvPr/>
        </p:nvSpPr>
        <p:spPr>
          <a:xfrm>
            <a:off x="4320540" y="2487168"/>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7" name="Text 15"/>
          <p:cNvSpPr/>
          <p:nvPr/>
        </p:nvSpPr>
        <p:spPr>
          <a:xfrm>
            <a:off x="3410712" y="3108960"/>
            <a:ext cx="2331720" cy="502920"/>
          </a:xfrm>
          <a:prstGeom prst="rect">
            <a:avLst/>
          </a:prstGeom>
          <a:noFill/>
          <a:ln/>
        </p:spPr>
        <p:txBody>
          <a:bodyPr wrap="square" rtlCol="0" anchor="ctr"/>
          <a:lstStyle/>
          <a:p>
            <a:pPr marL="0" indent="0" algn="ctr">
              <a:buNone/>
            </a:pPr>
            <a:r>
              <a:rPr lang="en-US" sz="1350" b="1" dirty="0">
                <a:solidFill>
                  <a:srgbClr val="1C8C93"/>
                </a:solidFill>
                <a:latin typeface="Cambria" pitchFamily="34" charset="0"/>
                <a:ea typeface="Cambria" pitchFamily="34" charset="-122"/>
                <a:cs typeface="Cambria" pitchFamily="34" charset="-120"/>
              </a:rPr>
              <a:t>Inductive Hypothesis</a:t>
            </a:r>
            <a:endParaRPr lang="en-US" sz="1350" dirty="0"/>
          </a:p>
        </p:txBody>
      </p:sp>
      <p:sp>
        <p:nvSpPr>
          <p:cNvPr id="18" name="Text 16"/>
          <p:cNvSpPr/>
          <p:nvPr/>
        </p:nvSpPr>
        <p:spPr>
          <a:xfrm>
            <a:off x="3438144" y="3703320"/>
            <a:ext cx="2276856" cy="2148840"/>
          </a:xfrm>
          <a:prstGeom prst="rect">
            <a:avLst/>
          </a:prstGeom>
          <a:noFill/>
          <a:ln/>
        </p:spPr>
        <p:txBody>
          <a:bodyPr wrap="square" rtlCol="0" anchor="ctr"/>
          <a:lstStyle/>
          <a:p>
            <a:pPr marL="0" indent="0">
              <a:lnSpc>
                <a:spcPct val="125000"/>
              </a:lnSpc>
              <a:buNone/>
            </a:pPr>
            <a:r>
              <a:rPr lang="en-US" sz="1050" dirty="0">
                <a:solidFill>
                  <a:srgbClr val="16232E"/>
                </a:solidFill>
                <a:latin typeface="Courier New" pitchFamily="34" charset="0"/>
                <a:ea typeface="Courier New" pitchFamily="34" charset="-122"/>
                <a:cs typeface="Courier New" pitchFamily="34" charset="-120"/>
              </a:rPr>
              <a:t>Assume P(k) is true for some k ≥ 1:</a:t>
            </a:r>
            <a:endParaRPr lang="en-US" sz="1050" dirty="0"/>
          </a:p>
          <a:p>
            <a:pPr marL="0" indent="0">
              <a:lnSpc>
                <a:spcPct val="125000"/>
              </a:lnSpc>
              <a:buNone/>
            </a:pPr>
            <a:r>
              <a:rPr lang="en-US" sz="1050" dirty="0">
                <a:solidFill>
                  <a:srgbClr val="16232E"/>
                </a:solidFill>
                <a:latin typeface="Courier New" pitchFamily="34" charset="0"/>
                <a:ea typeface="Courier New" pitchFamily="34" charset="-122"/>
                <a:cs typeface="Courier New" pitchFamily="34" charset="-120"/>
              </a:rPr>
              <a:t>∑ᵢ₌₁ᵏ i² = k(k+1)(2k+1) / 6</a:t>
            </a:r>
            <a:endParaRPr lang="en-US" sz="1050" dirty="0"/>
          </a:p>
        </p:txBody>
      </p:sp>
      <p:sp>
        <p:nvSpPr>
          <p:cNvPr id="19" name="Shape 17"/>
          <p:cNvSpPr/>
          <p:nvPr/>
        </p:nvSpPr>
        <p:spPr>
          <a:xfrm>
            <a:off x="5879592" y="4357116"/>
            <a:ext cx="164592" cy="18288"/>
          </a:xfrm>
          <a:prstGeom prst="line">
            <a:avLst/>
          </a:prstGeom>
          <a:noFill/>
          <a:ln w="25400">
            <a:solidFill>
              <a:srgbClr val="5B6B79"/>
            </a:solidFill>
            <a:prstDash val="solid"/>
            <a:tailEnd type="triangle"/>
          </a:ln>
        </p:spPr>
      </p:sp>
      <p:sp>
        <p:nvSpPr>
          <p:cNvPr id="20" name="Shape 18"/>
          <p:cNvSpPr/>
          <p:nvPr/>
        </p:nvSpPr>
        <p:spPr>
          <a:xfrm>
            <a:off x="6044184" y="2743200"/>
            <a:ext cx="2606040" cy="3246120"/>
          </a:xfrm>
          <a:prstGeom prst="rect">
            <a:avLst/>
          </a:prstGeom>
          <a:solidFill>
            <a:srgbClr val="EAF4F7"/>
          </a:solidFill>
          <a:ln w="15875">
            <a:solidFill>
              <a:srgbClr val="2E7D6B"/>
            </a:solidFill>
            <a:prstDash val="solid"/>
          </a:ln>
        </p:spPr>
      </p:sp>
      <p:sp>
        <p:nvSpPr>
          <p:cNvPr id="21" name="Shape 19"/>
          <p:cNvSpPr/>
          <p:nvPr/>
        </p:nvSpPr>
        <p:spPr>
          <a:xfrm>
            <a:off x="7091172" y="2487168"/>
            <a:ext cx="512064" cy="512064"/>
          </a:xfrm>
          <a:prstGeom prst="ellipse">
            <a:avLst/>
          </a:prstGeom>
          <a:solidFill>
            <a:srgbClr val="2E7D6B"/>
          </a:solidFill>
          <a:ln w="25400">
            <a:solidFill>
              <a:srgbClr val="FFFFFF"/>
            </a:solidFill>
            <a:prstDash val="solid"/>
          </a:ln>
        </p:spPr>
      </p:sp>
      <p:sp>
        <p:nvSpPr>
          <p:cNvPr id="22" name="Text 20"/>
          <p:cNvSpPr/>
          <p:nvPr/>
        </p:nvSpPr>
        <p:spPr>
          <a:xfrm>
            <a:off x="7091172" y="2487168"/>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3" name="Text 21"/>
          <p:cNvSpPr/>
          <p:nvPr/>
        </p:nvSpPr>
        <p:spPr>
          <a:xfrm>
            <a:off x="6181344" y="3108960"/>
            <a:ext cx="2331720" cy="502920"/>
          </a:xfrm>
          <a:prstGeom prst="rect">
            <a:avLst/>
          </a:prstGeom>
          <a:noFill/>
          <a:ln/>
        </p:spPr>
        <p:txBody>
          <a:bodyPr wrap="square" rtlCol="0" anchor="ctr"/>
          <a:lstStyle/>
          <a:p>
            <a:pPr marL="0" indent="0" algn="ctr">
              <a:buNone/>
            </a:pPr>
            <a:r>
              <a:rPr lang="en-US" sz="1350" b="1" dirty="0">
                <a:solidFill>
                  <a:srgbClr val="2E7D6B"/>
                </a:solidFill>
                <a:latin typeface="Cambria" pitchFamily="34" charset="0"/>
                <a:ea typeface="Cambria" pitchFamily="34" charset="-122"/>
                <a:cs typeface="Cambria" pitchFamily="34" charset="-120"/>
              </a:rPr>
              <a:t>Inductive Step</a:t>
            </a:r>
            <a:endParaRPr lang="en-US" sz="1350" dirty="0"/>
          </a:p>
        </p:txBody>
      </p:sp>
      <p:sp>
        <p:nvSpPr>
          <p:cNvPr id="24" name="Text 22"/>
          <p:cNvSpPr/>
          <p:nvPr/>
        </p:nvSpPr>
        <p:spPr>
          <a:xfrm>
            <a:off x="6208776" y="3703320"/>
            <a:ext cx="2276856" cy="2148840"/>
          </a:xfrm>
          <a:prstGeom prst="rect">
            <a:avLst/>
          </a:prstGeom>
          <a:noFill/>
          <a:ln/>
        </p:spPr>
        <p:txBody>
          <a:bodyPr wrap="square" rtlCol="0" anchor="ctr"/>
          <a:lstStyle/>
          <a:p>
            <a:pPr marL="0" indent="0">
              <a:lnSpc>
                <a:spcPct val="125000"/>
              </a:lnSpc>
              <a:buNone/>
            </a:pPr>
            <a:r>
              <a:rPr lang="en-US" sz="1050" dirty="0">
                <a:solidFill>
                  <a:srgbClr val="16232E"/>
                </a:solidFill>
                <a:latin typeface="Courier New" pitchFamily="34" charset="0"/>
                <a:ea typeface="Courier New" pitchFamily="34" charset="-122"/>
                <a:cs typeface="Courier New" pitchFamily="34" charset="-120"/>
              </a:rPr>
              <a:t>Show P(k+1) holds:</a:t>
            </a:r>
            <a:endParaRPr lang="en-US" sz="1050" dirty="0"/>
          </a:p>
          <a:p>
            <a:pPr marL="0" indent="0">
              <a:lnSpc>
                <a:spcPct val="125000"/>
              </a:lnSpc>
              <a:buNone/>
            </a:pPr>
            <a:r>
              <a:rPr lang="en-US" sz="1050" dirty="0">
                <a:solidFill>
                  <a:srgbClr val="16232E"/>
                </a:solidFill>
                <a:latin typeface="Courier New" pitchFamily="34" charset="0"/>
                <a:ea typeface="Courier New" pitchFamily="34" charset="-122"/>
                <a:cs typeface="Courier New" pitchFamily="34" charset="-120"/>
              </a:rPr>
              <a:t>∑ᵢ₌₁ᵏ⁺¹ i² = k(k+1)(2k+1)/6 + (k+1)²</a:t>
            </a:r>
            <a:endParaRPr lang="en-US" sz="1050" dirty="0"/>
          </a:p>
          <a:p>
            <a:pPr marL="0" indent="0">
              <a:lnSpc>
                <a:spcPct val="125000"/>
              </a:lnSpc>
              <a:buNone/>
            </a:pPr>
            <a:r>
              <a:rPr lang="en-US" sz="1050" dirty="0">
                <a:solidFill>
                  <a:srgbClr val="16232E"/>
                </a:solidFill>
                <a:latin typeface="Courier New" pitchFamily="34" charset="0"/>
                <a:ea typeface="Courier New" pitchFamily="34" charset="-122"/>
                <a:cs typeface="Courier New" pitchFamily="34" charset="-120"/>
              </a:rPr>
              <a:t>= (k+1)(k+2)(2k+3) / 6</a:t>
            </a:r>
            <a:endParaRPr lang="en-US" sz="1050" dirty="0"/>
          </a:p>
        </p:txBody>
      </p:sp>
      <p:sp>
        <p:nvSpPr>
          <p:cNvPr id="25" name="Shape 23"/>
          <p:cNvSpPr/>
          <p:nvPr/>
        </p:nvSpPr>
        <p:spPr>
          <a:xfrm>
            <a:off x="8650224" y="4357116"/>
            <a:ext cx="164592" cy="18288"/>
          </a:xfrm>
          <a:prstGeom prst="line">
            <a:avLst/>
          </a:prstGeom>
          <a:noFill/>
          <a:ln w="25400">
            <a:solidFill>
              <a:srgbClr val="5B6B79"/>
            </a:solidFill>
            <a:prstDash val="solid"/>
            <a:tailEnd type="triangle"/>
          </a:ln>
        </p:spPr>
      </p:sp>
      <p:sp>
        <p:nvSpPr>
          <p:cNvPr id="26" name="Shape 24"/>
          <p:cNvSpPr/>
          <p:nvPr/>
        </p:nvSpPr>
        <p:spPr>
          <a:xfrm>
            <a:off x="8814816" y="2743200"/>
            <a:ext cx="2606040" cy="3246120"/>
          </a:xfrm>
          <a:prstGeom prst="rect">
            <a:avLst/>
          </a:prstGeom>
          <a:solidFill>
            <a:srgbClr val="EAF4F7"/>
          </a:solidFill>
          <a:ln w="15875">
            <a:solidFill>
              <a:srgbClr val="F2A93B"/>
            </a:solidFill>
            <a:prstDash val="solid"/>
          </a:ln>
        </p:spPr>
      </p:sp>
      <p:sp>
        <p:nvSpPr>
          <p:cNvPr id="27" name="Shape 25"/>
          <p:cNvSpPr/>
          <p:nvPr/>
        </p:nvSpPr>
        <p:spPr>
          <a:xfrm>
            <a:off x="9861804" y="2487168"/>
            <a:ext cx="512064" cy="512064"/>
          </a:xfrm>
          <a:prstGeom prst="ellipse">
            <a:avLst/>
          </a:prstGeom>
          <a:solidFill>
            <a:srgbClr val="F2A93B"/>
          </a:solidFill>
          <a:ln w="25400">
            <a:solidFill>
              <a:srgbClr val="FFFFFF"/>
            </a:solidFill>
            <a:prstDash val="solid"/>
          </a:ln>
        </p:spPr>
      </p:sp>
      <p:sp>
        <p:nvSpPr>
          <p:cNvPr id="28" name="Text 26"/>
          <p:cNvSpPr/>
          <p:nvPr/>
        </p:nvSpPr>
        <p:spPr>
          <a:xfrm>
            <a:off x="9861804" y="2487168"/>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Text 27"/>
          <p:cNvSpPr/>
          <p:nvPr/>
        </p:nvSpPr>
        <p:spPr>
          <a:xfrm>
            <a:off x="8951976" y="3108960"/>
            <a:ext cx="2331720" cy="502920"/>
          </a:xfrm>
          <a:prstGeom prst="rect">
            <a:avLst/>
          </a:prstGeom>
          <a:noFill/>
          <a:ln/>
        </p:spPr>
        <p:txBody>
          <a:bodyPr wrap="square" rtlCol="0" anchor="ctr"/>
          <a:lstStyle/>
          <a:p>
            <a:pPr marL="0" indent="0" algn="ctr">
              <a:buNone/>
            </a:pPr>
            <a:r>
              <a:rPr lang="en-US" sz="1350" b="1" dirty="0">
                <a:solidFill>
                  <a:srgbClr val="F2A93B"/>
                </a:solidFill>
                <a:latin typeface="Cambria" pitchFamily="34" charset="0"/>
                <a:ea typeface="Cambria" pitchFamily="34" charset="-122"/>
                <a:cs typeface="Cambria" pitchFamily="34" charset="-120"/>
              </a:rPr>
              <a:t>Conclusion</a:t>
            </a:r>
            <a:endParaRPr lang="en-US" sz="1350" dirty="0"/>
          </a:p>
        </p:txBody>
      </p:sp>
      <p:sp>
        <p:nvSpPr>
          <p:cNvPr id="30" name="Text 28"/>
          <p:cNvSpPr/>
          <p:nvPr/>
        </p:nvSpPr>
        <p:spPr>
          <a:xfrm>
            <a:off x="8979408" y="3703320"/>
            <a:ext cx="2276856" cy="2148840"/>
          </a:xfrm>
          <a:prstGeom prst="rect">
            <a:avLst/>
          </a:prstGeom>
          <a:noFill/>
          <a:ln/>
        </p:spPr>
        <p:txBody>
          <a:bodyPr wrap="square" rtlCol="0" anchor="ctr"/>
          <a:lstStyle/>
          <a:p>
            <a:pPr marL="0" indent="0">
              <a:lnSpc>
                <a:spcPct val="125000"/>
              </a:lnSpc>
              <a:buNone/>
            </a:pPr>
            <a:r>
              <a:rPr lang="en-US" sz="1050" dirty="0">
                <a:solidFill>
                  <a:srgbClr val="16232E"/>
                </a:solidFill>
                <a:latin typeface="Courier New" pitchFamily="34" charset="0"/>
                <a:ea typeface="Courier New" pitchFamily="34" charset="-122"/>
                <a:cs typeface="Courier New" pitchFamily="34" charset="-120"/>
              </a:rPr>
              <a:t>P(k+1) matches the formula with n = k+1.</a:t>
            </a:r>
            <a:endParaRPr lang="en-US" sz="1050" dirty="0"/>
          </a:p>
          <a:p>
            <a:pPr marL="0" indent="0">
              <a:lnSpc>
                <a:spcPct val="125000"/>
              </a:lnSpc>
              <a:buNone/>
            </a:pPr>
            <a:r>
              <a:rPr lang="en-US" sz="1050" dirty="0">
                <a:solidFill>
                  <a:srgbClr val="16232E"/>
                </a:solidFill>
                <a:latin typeface="Courier New" pitchFamily="34" charset="0"/>
                <a:ea typeface="Courier New" pitchFamily="34" charset="-122"/>
                <a:cs typeface="Courier New" pitchFamily="34" charset="-120"/>
              </a:rPr>
              <a:t>By the principle of induction, P(n) holds</a:t>
            </a:r>
            <a:endParaRPr lang="en-US" sz="1050" dirty="0"/>
          </a:p>
          <a:p>
            <a:pPr marL="0" indent="0">
              <a:lnSpc>
                <a:spcPct val="125000"/>
              </a:lnSpc>
              <a:buNone/>
            </a:pPr>
            <a:r>
              <a:rPr lang="en-US" sz="1050" dirty="0">
                <a:solidFill>
                  <a:srgbClr val="16232E"/>
                </a:solidFill>
                <a:latin typeface="Courier New" pitchFamily="34" charset="0"/>
                <a:ea typeface="Courier New" pitchFamily="34" charset="-122"/>
                <a:cs typeface="Courier New" pitchFamily="34" charset="-120"/>
              </a:rPr>
              <a:t>for all positive integers n. ■</a:t>
            </a:r>
            <a:endParaRPr lang="en-US" sz="1050" dirty="0"/>
          </a:p>
        </p:txBody>
      </p:sp>
      <p:sp>
        <p:nvSpPr>
          <p:cNvPr id="31" name="Text 29"/>
          <p:cNvSpPr/>
          <p:nvPr/>
        </p:nvSpPr>
        <p:spPr>
          <a:xfrm>
            <a:off x="457200" y="6528816"/>
            <a:ext cx="7772400" cy="274320"/>
          </a:xfrm>
          <a:prstGeom prst="rect">
            <a:avLst/>
          </a:prstGeom>
          <a:noFill/>
          <a:ln/>
        </p:spPr>
        <p:txBody>
          <a:bodyPr wrap="square" rtlCol="0" anchor="ctr"/>
          <a:lstStyle/>
          <a:p>
            <a:pPr marL="0" indent="0">
              <a:buNone/>
            </a:pPr>
            <a:r>
              <a:rPr lang="en-US" sz="950" dirty="0">
                <a:solidFill>
                  <a:srgbClr val="5B6B79"/>
                </a:solidFill>
                <a:latin typeface="Calibri" pitchFamily="34" charset="0"/>
                <a:ea typeface="Calibri" pitchFamily="34" charset="-122"/>
                <a:cs typeface="Calibri" pitchFamily="34" charset="-120"/>
              </a:rPr>
              <a:t>CO1 · Theory of Computation (CSA13) · Technical Presentation</a:t>
            </a:r>
            <a:endParaRPr lang="en-US" sz="950" dirty="0"/>
          </a:p>
        </p:txBody>
      </p:sp>
      <p:sp>
        <p:nvSpPr>
          <p:cNvPr id="32" name="Text 30"/>
          <p:cNvSpPr/>
          <p:nvPr/>
        </p:nvSpPr>
        <p:spPr>
          <a:xfrm>
            <a:off x="11430000" y="6528816"/>
            <a:ext cx="365760" cy="274320"/>
          </a:xfrm>
          <a:prstGeom prst="rect">
            <a:avLst/>
          </a:prstGeom>
          <a:noFill/>
          <a:ln/>
        </p:spPr>
        <p:txBody>
          <a:bodyPr wrap="square" rtlCol="0" anchor="ctr"/>
          <a:lstStyle/>
          <a:p>
            <a:pPr marL="0" indent="0" algn="r">
              <a:buNone/>
            </a:pPr>
            <a:r>
              <a:rPr lang="en-US" sz="950" dirty="0">
                <a:solidFill>
                  <a:srgbClr val="5B6B79"/>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w="12700">
            <a:solidFill>
              <a:srgbClr val="0B1F3A"/>
            </a:solidFill>
            <a:prstDash val="solid"/>
          </a:ln>
        </p:spPr>
      </p:sp>
      <p:sp>
        <p:nvSpPr>
          <p:cNvPr id="3" name="Text 1"/>
          <p:cNvSpPr/>
          <p:nvPr/>
        </p:nvSpPr>
        <p:spPr>
          <a:xfrm>
            <a:off x="502920" y="146304"/>
            <a:ext cx="2011680" cy="411480"/>
          </a:xfrm>
          <a:prstGeom prst="rect">
            <a:avLst/>
          </a:prstGeom>
          <a:noFill/>
          <a:ln/>
        </p:spPr>
        <p:txBody>
          <a:bodyPr wrap="square" rtlCol="0" anchor="ctr"/>
          <a:lstStyle/>
          <a:p>
            <a:pPr marL="0" indent="0">
              <a:buNone/>
            </a:pPr>
            <a:r>
              <a:rPr lang="en-US" sz="1300" b="1" kern="0" spc="100" dirty="0">
                <a:solidFill>
                  <a:srgbClr val="4FD1C5"/>
                </a:solidFill>
                <a:latin typeface="Calibri" pitchFamily="34" charset="0"/>
                <a:ea typeface="Calibri" pitchFamily="34" charset="-122"/>
                <a:cs typeface="Calibri" pitchFamily="34" charset="-120"/>
              </a:rPr>
              <a:t>QUESTION 3</a:t>
            </a:r>
            <a:endParaRPr lang="en-US" sz="1300" dirty="0"/>
          </a:p>
        </p:txBody>
      </p:sp>
      <p:sp>
        <p:nvSpPr>
          <p:cNvPr id="4" name="Text 2"/>
          <p:cNvSpPr/>
          <p:nvPr/>
        </p:nvSpPr>
        <p:spPr>
          <a:xfrm>
            <a:off x="457200" y="457200"/>
            <a:ext cx="11247120" cy="54864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Epsilon Transitions and ε-NFA → NFA Elimination</a:t>
            </a:r>
            <a:endParaRPr lang="en-US" sz="2500" dirty="0"/>
          </a:p>
        </p:txBody>
      </p:sp>
      <p:sp>
        <p:nvSpPr>
          <p:cNvPr id="5" name="Text 3"/>
          <p:cNvSpPr/>
          <p:nvPr/>
        </p:nvSpPr>
        <p:spPr>
          <a:xfrm>
            <a:off x="502920" y="1325880"/>
            <a:ext cx="5212080" cy="320040"/>
          </a:xfrm>
          <a:prstGeom prst="rect">
            <a:avLst/>
          </a:prstGeom>
          <a:noFill/>
          <a:ln/>
        </p:spPr>
        <p:txBody>
          <a:bodyPr wrap="square" rtlCol="0" anchor="ctr"/>
          <a:lstStyle/>
          <a:p>
            <a:pPr marL="0" indent="0">
              <a:buNone/>
            </a:pPr>
            <a:r>
              <a:rPr lang="en-US" sz="1500" b="1" dirty="0">
                <a:solidFill>
                  <a:srgbClr val="0E4C6B"/>
                </a:solidFill>
                <a:latin typeface="Cambria" pitchFamily="34" charset="0"/>
                <a:ea typeface="Cambria" pitchFamily="34" charset="-122"/>
                <a:cs typeface="Cambria" pitchFamily="34" charset="-120"/>
              </a:rPr>
              <a:t>Role of ε-transitions</a:t>
            </a:r>
            <a:endParaRPr lang="en-US" sz="1500" dirty="0"/>
          </a:p>
        </p:txBody>
      </p:sp>
      <p:sp>
        <p:nvSpPr>
          <p:cNvPr id="6" name="Shape 4"/>
          <p:cNvSpPr/>
          <p:nvPr/>
        </p:nvSpPr>
        <p:spPr>
          <a:xfrm>
            <a:off x="502920" y="1746504"/>
            <a:ext cx="82296" cy="82296"/>
          </a:xfrm>
          <a:prstGeom prst="ellipse">
            <a:avLst/>
          </a:prstGeom>
          <a:solidFill>
            <a:srgbClr val="1C8C93"/>
          </a:solidFill>
          <a:ln w="12700">
            <a:solidFill>
              <a:srgbClr val="1C8C93"/>
            </a:solidFill>
            <a:prstDash val="solid"/>
          </a:ln>
        </p:spPr>
      </p:sp>
      <p:sp>
        <p:nvSpPr>
          <p:cNvPr id="7" name="Text 5"/>
          <p:cNvSpPr/>
          <p:nvPr/>
        </p:nvSpPr>
        <p:spPr>
          <a:xfrm>
            <a:off x="731520" y="1618488"/>
            <a:ext cx="4983480" cy="457200"/>
          </a:xfrm>
          <a:prstGeom prst="rect">
            <a:avLst/>
          </a:prstGeom>
          <a:noFill/>
          <a:ln/>
        </p:spPr>
        <p:txBody>
          <a:bodyPr wrap="square" rtlCol="0" anchor="ctr"/>
          <a:lstStyle/>
          <a:p>
            <a:pPr marL="0" indent="0">
              <a:lnSpc>
                <a:spcPct val="110000"/>
              </a:lnSpc>
              <a:buNone/>
            </a:pPr>
            <a:r>
              <a:rPr lang="en-US" sz="1150" dirty="0">
                <a:solidFill>
                  <a:srgbClr val="16232E"/>
                </a:solidFill>
                <a:latin typeface="Calibri" pitchFamily="34" charset="0"/>
                <a:ea typeface="Calibri" pitchFamily="34" charset="-122"/>
                <a:cs typeface="Calibri" pitchFamily="34" charset="-120"/>
              </a:rPr>
              <a:t>Let the automaton change state without reading any input symbol.</a:t>
            </a:r>
            <a:endParaRPr lang="en-US" sz="1150" dirty="0"/>
          </a:p>
        </p:txBody>
      </p:sp>
      <p:sp>
        <p:nvSpPr>
          <p:cNvPr id="8" name="Shape 6"/>
          <p:cNvSpPr/>
          <p:nvPr/>
        </p:nvSpPr>
        <p:spPr>
          <a:xfrm>
            <a:off x="502920" y="2313432"/>
            <a:ext cx="82296" cy="82296"/>
          </a:xfrm>
          <a:prstGeom prst="ellipse">
            <a:avLst/>
          </a:prstGeom>
          <a:solidFill>
            <a:srgbClr val="1C8C93"/>
          </a:solidFill>
          <a:ln w="12700">
            <a:solidFill>
              <a:srgbClr val="1C8C93"/>
            </a:solidFill>
            <a:prstDash val="solid"/>
          </a:ln>
        </p:spPr>
      </p:sp>
      <p:sp>
        <p:nvSpPr>
          <p:cNvPr id="9" name="Text 7"/>
          <p:cNvSpPr/>
          <p:nvPr/>
        </p:nvSpPr>
        <p:spPr>
          <a:xfrm>
            <a:off x="731520" y="2185416"/>
            <a:ext cx="4983480" cy="457200"/>
          </a:xfrm>
          <a:prstGeom prst="rect">
            <a:avLst/>
          </a:prstGeom>
          <a:noFill/>
          <a:ln/>
        </p:spPr>
        <p:txBody>
          <a:bodyPr wrap="square" rtlCol="0" anchor="ctr"/>
          <a:lstStyle/>
          <a:p>
            <a:pPr marL="0" indent="0">
              <a:lnSpc>
                <a:spcPct val="110000"/>
              </a:lnSpc>
              <a:buNone/>
            </a:pPr>
            <a:r>
              <a:rPr lang="en-US" sz="1150" dirty="0">
                <a:solidFill>
                  <a:srgbClr val="16232E"/>
                </a:solidFill>
                <a:latin typeface="Calibri" pitchFamily="34" charset="0"/>
                <a:ea typeface="Calibri" pitchFamily="34" charset="-122"/>
                <a:cs typeface="Calibri" pitchFamily="34" charset="-120"/>
              </a:rPr>
              <a:t>Make it easy to combine automata (union, concatenation, Kleene star) — the basis of Thompson's construction.</a:t>
            </a:r>
            <a:endParaRPr lang="en-US" sz="1150" dirty="0"/>
          </a:p>
        </p:txBody>
      </p:sp>
      <p:sp>
        <p:nvSpPr>
          <p:cNvPr id="10" name="Shape 8"/>
          <p:cNvSpPr/>
          <p:nvPr/>
        </p:nvSpPr>
        <p:spPr>
          <a:xfrm>
            <a:off x="502920" y="2880360"/>
            <a:ext cx="82296" cy="82296"/>
          </a:xfrm>
          <a:prstGeom prst="ellipse">
            <a:avLst/>
          </a:prstGeom>
          <a:solidFill>
            <a:srgbClr val="1C8C93"/>
          </a:solidFill>
          <a:ln w="12700">
            <a:solidFill>
              <a:srgbClr val="1C8C93"/>
            </a:solidFill>
            <a:prstDash val="solid"/>
          </a:ln>
        </p:spPr>
      </p:sp>
      <p:sp>
        <p:nvSpPr>
          <p:cNvPr id="11" name="Text 9"/>
          <p:cNvSpPr/>
          <p:nvPr/>
        </p:nvSpPr>
        <p:spPr>
          <a:xfrm>
            <a:off x="731520" y="2752344"/>
            <a:ext cx="4983480" cy="457200"/>
          </a:xfrm>
          <a:prstGeom prst="rect">
            <a:avLst/>
          </a:prstGeom>
          <a:noFill/>
          <a:ln/>
        </p:spPr>
        <p:txBody>
          <a:bodyPr wrap="square" rtlCol="0" anchor="ctr"/>
          <a:lstStyle/>
          <a:p>
            <a:pPr marL="0" indent="0">
              <a:lnSpc>
                <a:spcPct val="110000"/>
              </a:lnSpc>
              <a:buNone/>
            </a:pPr>
            <a:r>
              <a:rPr lang="en-US" sz="1150" dirty="0">
                <a:solidFill>
                  <a:srgbClr val="16232E"/>
                </a:solidFill>
                <a:latin typeface="Calibri" pitchFamily="34" charset="0"/>
                <a:ea typeface="Calibri" pitchFamily="34" charset="-122"/>
                <a:cs typeface="Calibri" pitchFamily="34" charset="-120"/>
              </a:rPr>
              <a:t>Simplify design; they never add power — every ε-NFA has an equivalent ε-free NFA and DFA.</a:t>
            </a:r>
            <a:endParaRPr lang="en-US" sz="1150" dirty="0"/>
          </a:p>
        </p:txBody>
      </p:sp>
      <p:sp>
        <p:nvSpPr>
          <p:cNvPr id="12" name="Text 10"/>
          <p:cNvSpPr/>
          <p:nvPr/>
        </p:nvSpPr>
        <p:spPr>
          <a:xfrm>
            <a:off x="502920" y="3438144"/>
            <a:ext cx="5212080" cy="320040"/>
          </a:xfrm>
          <a:prstGeom prst="rect">
            <a:avLst/>
          </a:prstGeom>
          <a:noFill/>
          <a:ln/>
        </p:spPr>
        <p:txBody>
          <a:bodyPr wrap="square" rtlCol="0" anchor="ctr"/>
          <a:lstStyle/>
          <a:p>
            <a:pPr marL="0" indent="0">
              <a:buNone/>
            </a:pPr>
            <a:r>
              <a:rPr lang="en-US" sz="1500" b="1" dirty="0">
                <a:solidFill>
                  <a:srgbClr val="0E4C6B"/>
                </a:solidFill>
                <a:latin typeface="Cambria" pitchFamily="34" charset="0"/>
                <a:ea typeface="Cambria" pitchFamily="34" charset="-122"/>
                <a:cs typeface="Cambria" pitchFamily="34" charset="-120"/>
              </a:rPr>
              <a:t>Removing ε-transitions</a:t>
            </a:r>
            <a:endParaRPr lang="en-US" sz="1500" dirty="0"/>
          </a:p>
        </p:txBody>
      </p:sp>
      <p:sp>
        <p:nvSpPr>
          <p:cNvPr id="13" name="Text 11"/>
          <p:cNvSpPr/>
          <p:nvPr/>
        </p:nvSpPr>
        <p:spPr>
          <a:xfrm>
            <a:off x="502920" y="3849624"/>
            <a:ext cx="274320" cy="365760"/>
          </a:xfrm>
          <a:prstGeom prst="rect">
            <a:avLst/>
          </a:prstGeom>
          <a:noFill/>
          <a:ln/>
        </p:spPr>
        <p:txBody>
          <a:bodyPr wrap="square" rtlCol="0" anchor="ctr"/>
          <a:lstStyle/>
          <a:p>
            <a:pPr marL="0" indent="0">
              <a:buNone/>
            </a:pPr>
            <a:r>
              <a:rPr lang="en-US" sz="1150" b="1" dirty="0">
                <a:solidFill>
                  <a:srgbClr val="1C8C93"/>
                </a:solidFill>
                <a:latin typeface="Calibri" pitchFamily="34" charset="0"/>
                <a:ea typeface="Calibri" pitchFamily="34" charset="-122"/>
                <a:cs typeface="Calibri" pitchFamily="34" charset="-120"/>
              </a:rPr>
              <a:t>1.</a:t>
            </a:r>
            <a:endParaRPr lang="en-US" sz="1150" dirty="0"/>
          </a:p>
        </p:txBody>
      </p:sp>
      <p:sp>
        <p:nvSpPr>
          <p:cNvPr id="14" name="Text 12"/>
          <p:cNvSpPr/>
          <p:nvPr/>
        </p:nvSpPr>
        <p:spPr>
          <a:xfrm>
            <a:off x="777240" y="3849624"/>
            <a:ext cx="4937760" cy="365760"/>
          </a:xfrm>
          <a:prstGeom prst="rect">
            <a:avLst/>
          </a:prstGeom>
          <a:noFill/>
          <a:ln/>
        </p:spPr>
        <p:txBody>
          <a:bodyPr wrap="square" rtlCol="0" anchor="ctr"/>
          <a:lstStyle/>
          <a:p>
            <a:pPr marL="0" indent="0">
              <a:buNone/>
            </a:pPr>
            <a:r>
              <a:rPr lang="en-US" sz="1150" dirty="0">
                <a:solidFill>
                  <a:srgbClr val="16232E"/>
                </a:solidFill>
                <a:latin typeface="Calibri" pitchFamily="34" charset="0"/>
                <a:ea typeface="Calibri" pitchFamily="34" charset="-122"/>
                <a:cs typeface="Calibri" pitchFamily="34" charset="-120"/>
              </a:rPr>
              <a:t>Compute the ε-closure of every state.</a:t>
            </a:r>
            <a:endParaRPr lang="en-US" sz="1150" dirty="0"/>
          </a:p>
        </p:txBody>
      </p:sp>
      <p:sp>
        <p:nvSpPr>
          <p:cNvPr id="15" name="Text 13"/>
          <p:cNvSpPr/>
          <p:nvPr/>
        </p:nvSpPr>
        <p:spPr>
          <a:xfrm>
            <a:off x="502920" y="4251960"/>
            <a:ext cx="274320" cy="365760"/>
          </a:xfrm>
          <a:prstGeom prst="rect">
            <a:avLst/>
          </a:prstGeom>
          <a:noFill/>
          <a:ln/>
        </p:spPr>
        <p:txBody>
          <a:bodyPr wrap="square" rtlCol="0" anchor="ctr"/>
          <a:lstStyle/>
          <a:p>
            <a:pPr marL="0" indent="0">
              <a:buNone/>
            </a:pPr>
            <a:r>
              <a:rPr lang="en-US" sz="1150" b="1" dirty="0">
                <a:solidFill>
                  <a:srgbClr val="1C8C93"/>
                </a:solidFill>
                <a:latin typeface="Calibri" pitchFamily="34" charset="0"/>
                <a:ea typeface="Calibri" pitchFamily="34" charset="-122"/>
                <a:cs typeface="Calibri" pitchFamily="34" charset="-120"/>
              </a:rPr>
              <a:t>2.</a:t>
            </a:r>
            <a:endParaRPr lang="en-US" sz="1150" dirty="0"/>
          </a:p>
        </p:txBody>
      </p:sp>
      <p:sp>
        <p:nvSpPr>
          <p:cNvPr id="16" name="Text 14"/>
          <p:cNvSpPr/>
          <p:nvPr/>
        </p:nvSpPr>
        <p:spPr>
          <a:xfrm>
            <a:off x="777240" y="4251960"/>
            <a:ext cx="4937760" cy="365760"/>
          </a:xfrm>
          <a:prstGeom prst="rect">
            <a:avLst/>
          </a:prstGeom>
          <a:noFill/>
          <a:ln/>
        </p:spPr>
        <p:txBody>
          <a:bodyPr wrap="square" rtlCol="0" anchor="ctr"/>
          <a:lstStyle/>
          <a:p>
            <a:pPr marL="0" indent="0">
              <a:buNone/>
            </a:pPr>
            <a:r>
              <a:rPr lang="en-US" sz="1150" dirty="0">
                <a:solidFill>
                  <a:srgbClr val="16232E"/>
                </a:solidFill>
                <a:latin typeface="Calibri" pitchFamily="34" charset="0"/>
                <a:ea typeface="Calibri" pitchFamily="34" charset="-122"/>
                <a:cs typeface="Calibri" pitchFamily="34" charset="-120"/>
              </a:rPr>
              <a:t>New rule: δ'(q,a) = ε-closure( δ( ε-closure(q), a ) ).</a:t>
            </a:r>
            <a:endParaRPr lang="en-US" sz="1150" dirty="0"/>
          </a:p>
        </p:txBody>
      </p:sp>
      <p:sp>
        <p:nvSpPr>
          <p:cNvPr id="17" name="Text 15"/>
          <p:cNvSpPr/>
          <p:nvPr/>
        </p:nvSpPr>
        <p:spPr>
          <a:xfrm>
            <a:off x="502920" y="4654296"/>
            <a:ext cx="274320" cy="365760"/>
          </a:xfrm>
          <a:prstGeom prst="rect">
            <a:avLst/>
          </a:prstGeom>
          <a:noFill/>
          <a:ln/>
        </p:spPr>
        <p:txBody>
          <a:bodyPr wrap="square" rtlCol="0" anchor="ctr"/>
          <a:lstStyle/>
          <a:p>
            <a:pPr marL="0" indent="0">
              <a:buNone/>
            </a:pPr>
            <a:r>
              <a:rPr lang="en-US" sz="1150" b="1" dirty="0">
                <a:solidFill>
                  <a:srgbClr val="1C8C93"/>
                </a:solidFill>
                <a:latin typeface="Calibri" pitchFamily="34" charset="0"/>
                <a:ea typeface="Calibri" pitchFamily="34" charset="-122"/>
                <a:cs typeface="Calibri" pitchFamily="34" charset="-120"/>
              </a:rPr>
              <a:t>3.</a:t>
            </a:r>
            <a:endParaRPr lang="en-US" sz="1150" dirty="0"/>
          </a:p>
        </p:txBody>
      </p:sp>
      <p:sp>
        <p:nvSpPr>
          <p:cNvPr id="18" name="Text 16"/>
          <p:cNvSpPr/>
          <p:nvPr/>
        </p:nvSpPr>
        <p:spPr>
          <a:xfrm>
            <a:off x="777240" y="4654296"/>
            <a:ext cx="4937760" cy="365760"/>
          </a:xfrm>
          <a:prstGeom prst="rect">
            <a:avLst/>
          </a:prstGeom>
          <a:noFill/>
          <a:ln/>
        </p:spPr>
        <p:txBody>
          <a:bodyPr wrap="square" rtlCol="0" anchor="ctr"/>
          <a:lstStyle/>
          <a:p>
            <a:pPr marL="0" indent="0">
              <a:buNone/>
            </a:pPr>
            <a:r>
              <a:rPr lang="en-US" sz="1150" dirty="0">
                <a:solidFill>
                  <a:srgbClr val="16232E"/>
                </a:solidFill>
                <a:latin typeface="Calibri" pitchFamily="34" charset="0"/>
                <a:ea typeface="Calibri" pitchFamily="34" charset="-122"/>
                <a:cs typeface="Calibri" pitchFamily="34" charset="-120"/>
              </a:rPr>
              <a:t>A state becomes final if its ε-closure contains an original final state.</a:t>
            </a:r>
            <a:endParaRPr lang="en-US" sz="1150" dirty="0"/>
          </a:p>
        </p:txBody>
      </p:sp>
      <p:sp>
        <p:nvSpPr>
          <p:cNvPr id="19" name="Text 17"/>
          <p:cNvSpPr/>
          <p:nvPr/>
        </p:nvSpPr>
        <p:spPr>
          <a:xfrm>
            <a:off x="502920" y="5056632"/>
            <a:ext cx="274320" cy="365760"/>
          </a:xfrm>
          <a:prstGeom prst="rect">
            <a:avLst/>
          </a:prstGeom>
          <a:noFill/>
          <a:ln/>
        </p:spPr>
        <p:txBody>
          <a:bodyPr wrap="square" rtlCol="0" anchor="ctr"/>
          <a:lstStyle/>
          <a:p>
            <a:pPr marL="0" indent="0">
              <a:buNone/>
            </a:pPr>
            <a:r>
              <a:rPr lang="en-US" sz="1150" b="1" dirty="0">
                <a:solidFill>
                  <a:srgbClr val="1C8C93"/>
                </a:solidFill>
                <a:latin typeface="Calibri" pitchFamily="34" charset="0"/>
                <a:ea typeface="Calibri" pitchFamily="34" charset="-122"/>
                <a:cs typeface="Calibri" pitchFamily="34" charset="-120"/>
              </a:rPr>
              <a:t>4.</a:t>
            </a:r>
            <a:endParaRPr lang="en-US" sz="1150" dirty="0"/>
          </a:p>
        </p:txBody>
      </p:sp>
      <p:sp>
        <p:nvSpPr>
          <p:cNvPr id="20" name="Text 18"/>
          <p:cNvSpPr/>
          <p:nvPr/>
        </p:nvSpPr>
        <p:spPr>
          <a:xfrm>
            <a:off x="777240" y="5056632"/>
            <a:ext cx="4937760" cy="365760"/>
          </a:xfrm>
          <a:prstGeom prst="rect">
            <a:avLst/>
          </a:prstGeom>
          <a:noFill/>
          <a:ln/>
        </p:spPr>
        <p:txBody>
          <a:bodyPr wrap="square" rtlCol="0" anchor="ctr"/>
          <a:lstStyle/>
          <a:p>
            <a:pPr marL="0" indent="0">
              <a:buNone/>
            </a:pPr>
            <a:r>
              <a:rPr lang="en-US" sz="1150" dirty="0">
                <a:solidFill>
                  <a:srgbClr val="16232E"/>
                </a:solidFill>
                <a:latin typeface="Calibri" pitchFamily="34" charset="0"/>
                <a:ea typeface="Calibri" pitchFamily="34" charset="-122"/>
                <a:cs typeface="Calibri" pitchFamily="34" charset="-120"/>
              </a:rPr>
              <a:t>Drop all ε-edges — the language accepted is unchanged.</a:t>
            </a:r>
            <a:endParaRPr lang="en-US" sz="1150" dirty="0"/>
          </a:p>
        </p:txBody>
      </p:sp>
      <p:sp>
        <p:nvSpPr>
          <p:cNvPr id="21" name="Text 19"/>
          <p:cNvSpPr/>
          <p:nvPr/>
        </p:nvSpPr>
        <p:spPr>
          <a:xfrm>
            <a:off x="6126480" y="1325880"/>
            <a:ext cx="2743200" cy="274320"/>
          </a:xfrm>
          <a:prstGeom prst="rect">
            <a:avLst/>
          </a:prstGeom>
          <a:noFill/>
          <a:ln/>
        </p:spPr>
        <p:txBody>
          <a:bodyPr wrap="square" rtlCol="0" anchor="ctr"/>
          <a:lstStyle/>
          <a:p>
            <a:pPr marL="0" indent="0">
              <a:buNone/>
            </a:pPr>
            <a:r>
              <a:rPr lang="en-US" sz="1200" b="1" dirty="0">
                <a:solidFill>
                  <a:srgbClr val="0E4C6B"/>
                </a:solidFill>
                <a:latin typeface="Calibri" pitchFamily="34" charset="0"/>
                <a:ea typeface="Calibri" pitchFamily="34" charset="-122"/>
                <a:cs typeface="Calibri" pitchFamily="34" charset="-120"/>
              </a:rPr>
              <a:t>ε-NFA</a:t>
            </a:r>
            <a:endParaRPr lang="en-US" sz="1200" dirty="0"/>
          </a:p>
        </p:txBody>
      </p:sp>
      <p:sp>
        <p:nvSpPr>
          <p:cNvPr id="22" name="Shape 20"/>
          <p:cNvSpPr/>
          <p:nvPr/>
        </p:nvSpPr>
        <p:spPr>
          <a:xfrm>
            <a:off x="5852160" y="2148840"/>
            <a:ext cx="457200" cy="0"/>
          </a:xfrm>
          <a:prstGeom prst="line">
            <a:avLst/>
          </a:prstGeom>
          <a:noFill/>
          <a:ln w="28575">
            <a:solidFill>
              <a:srgbClr val="0E4C6B"/>
            </a:solidFill>
            <a:prstDash val="solid"/>
            <a:tailEnd type="triangle"/>
          </a:ln>
        </p:spPr>
      </p:sp>
      <p:sp>
        <p:nvSpPr>
          <p:cNvPr id="23" name="Shape 21"/>
          <p:cNvSpPr/>
          <p:nvPr/>
        </p:nvSpPr>
        <p:spPr>
          <a:xfrm>
            <a:off x="6309360" y="1783080"/>
            <a:ext cx="731520" cy="731520"/>
          </a:xfrm>
          <a:prstGeom prst="ellipse">
            <a:avLst/>
          </a:prstGeom>
          <a:solidFill>
            <a:srgbClr val="FFFFFF"/>
          </a:solidFill>
          <a:ln w="28575">
            <a:solidFill>
              <a:srgbClr val="0E4C6B"/>
            </a:solidFill>
            <a:prstDash val="solid"/>
          </a:ln>
        </p:spPr>
      </p:sp>
      <p:sp>
        <p:nvSpPr>
          <p:cNvPr id="24" name="Text 22"/>
          <p:cNvSpPr/>
          <p:nvPr/>
        </p:nvSpPr>
        <p:spPr>
          <a:xfrm>
            <a:off x="6309360" y="1783080"/>
            <a:ext cx="731520" cy="731520"/>
          </a:xfrm>
          <a:prstGeom prst="rect">
            <a:avLst/>
          </a:prstGeom>
          <a:noFill/>
          <a:ln/>
        </p:spPr>
        <p:txBody>
          <a:bodyPr wrap="square" lIns="0" tIns="0" rIns="0" bIns="0" rtlCol="0" anchor="ctr"/>
          <a:lstStyle/>
          <a:p>
            <a:pPr marL="0" indent="0" algn="ctr">
              <a:buNone/>
            </a:pPr>
            <a:r>
              <a:rPr lang="en-US" sz="1300" b="1" dirty="0">
                <a:solidFill>
                  <a:srgbClr val="16232E"/>
                </a:solidFill>
                <a:latin typeface="Calibri" pitchFamily="34" charset="0"/>
                <a:ea typeface="Calibri" pitchFamily="34" charset="-122"/>
                <a:cs typeface="Calibri" pitchFamily="34" charset="-120"/>
              </a:rPr>
              <a:t>q0</a:t>
            </a:r>
            <a:endParaRPr lang="en-US" sz="1300" dirty="0"/>
          </a:p>
        </p:txBody>
      </p:sp>
      <p:sp>
        <p:nvSpPr>
          <p:cNvPr id="25" name="Shape 23"/>
          <p:cNvSpPr/>
          <p:nvPr/>
        </p:nvSpPr>
        <p:spPr>
          <a:xfrm>
            <a:off x="7772400" y="1783080"/>
            <a:ext cx="731520" cy="731520"/>
          </a:xfrm>
          <a:prstGeom prst="ellipse">
            <a:avLst/>
          </a:prstGeom>
          <a:solidFill>
            <a:srgbClr val="FFFFFF"/>
          </a:solidFill>
          <a:ln w="28575">
            <a:solidFill>
              <a:srgbClr val="0E4C6B"/>
            </a:solidFill>
            <a:prstDash val="solid"/>
          </a:ln>
        </p:spPr>
      </p:sp>
      <p:sp>
        <p:nvSpPr>
          <p:cNvPr id="26" name="Text 24"/>
          <p:cNvSpPr/>
          <p:nvPr/>
        </p:nvSpPr>
        <p:spPr>
          <a:xfrm>
            <a:off x="7772400" y="1783080"/>
            <a:ext cx="731520" cy="731520"/>
          </a:xfrm>
          <a:prstGeom prst="rect">
            <a:avLst/>
          </a:prstGeom>
          <a:noFill/>
          <a:ln/>
        </p:spPr>
        <p:txBody>
          <a:bodyPr wrap="square" lIns="0" tIns="0" rIns="0" bIns="0" rtlCol="0" anchor="ctr"/>
          <a:lstStyle/>
          <a:p>
            <a:pPr marL="0" indent="0" algn="ctr">
              <a:buNone/>
            </a:pPr>
            <a:r>
              <a:rPr lang="en-US" sz="1300" b="1" dirty="0">
                <a:solidFill>
                  <a:srgbClr val="16232E"/>
                </a:solidFill>
                <a:latin typeface="Calibri" pitchFamily="34" charset="0"/>
                <a:ea typeface="Calibri" pitchFamily="34" charset="-122"/>
                <a:cs typeface="Calibri" pitchFamily="34" charset="-120"/>
              </a:rPr>
              <a:t>q1</a:t>
            </a:r>
            <a:endParaRPr lang="en-US" sz="1300" dirty="0"/>
          </a:p>
        </p:txBody>
      </p:sp>
      <p:sp>
        <p:nvSpPr>
          <p:cNvPr id="27" name="Shape 25"/>
          <p:cNvSpPr/>
          <p:nvPr/>
        </p:nvSpPr>
        <p:spPr>
          <a:xfrm>
            <a:off x="9180576" y="1728216"/>
            <a:ext cx="841248" cy="841248"/>
          </a:xfrm>
          <a:prstGeom prst="ellipse">
            <a:avLst/>
          </a:prstGeom>
          <a:noFill/>
          <a:ln w="19050">
            <a:solidFill>
              <a:srgbClr val="0E4C6B"/>
            </a:solidFill>
            <a:prstDash val="solid"/>
          </a:ln>
        </p:spPr>
      </p:sp>
      <p:sp>
        <p:nvSpPr>
          <p:cNvPr id="28" name="Shape 26"/>
          <p:cNvSpPr/>
          <p:nvPr/>
        </p:nvSpPr>
        <p:spPr>
          <a:xfrm>
            <a:off x="9235440" y="1783080"/>
            <a:ext cx="731520" cy="731520"/>
          </a:xfrm>
          <a:prstGeom prst="ellipse">
            <a:avLst/>
          </a:prstGeom>
          <a:solidFill>
            <a:srgbClr val="FFFFFF"/>
          </a:solidFill>
          <a:ln w="28575">
            <a:solidFill>
              <a:srgbClr val="0E4C6B"/>
            </a:solidFill>
            <a:prstDash val="solid"/>
          </a:ln>
        </p:spPr>
      </p:sp>
      <p:sp>
        <p:nvSpPr>
          <p:cNvPr id="29" name="Text 27"/>
          <p:cNvSpPr/>
          <p:nvPr/>
        </p:nvSpPr>
        <p:spPr>
          <a:xfrm>
            <a:off x="9235440" y="1783080"/>
            <a:ext cx="731520" cy="731520"/>
          </a:xfrm>
          <a:prstGeom prst="rect">
            <a:avLst/>
          </a:prstGeom>
          <a:noFill/>
          <a:ln/>
        </p:spPr>
        <p:txBody>
          <a:bodyPr wrap="square" lIns="0" tIns="0" rIns="0" bIns="0" rtlCol="0" anchor="ctr"/>
          <a:lstStyle/>
          <a:p>
            <a:pPr marL="0" indent="0" algn="ctr">
              <a:buNone/>
            </a:pPr>
            <a:r>
              <a:rPr lang="en-US" sz="1300" b="1" dirty="0">
                <a:solidFill>
                  <a:srgbClr val="16232E"/>
                </a:solidFill>
                <a:latin typeface="Calibri" pitchFamily="34" charset="0"/>
                <a:ea typeface="Calibri" pitchFamily="34" charset="-122"/>
                <a:cs typeface="Calibri" pitchFamily="34" charset="-120"/>
              </a:rPr>
              <a:t>q2</a:t>
            </a:r>
            <a:endParaRPr lang="en-US" sz="1300" dirty="0"/>
          </a:p>
        </p:txBody>
      </p:sp>
      <p:sp>
        <p:nvSpPr>
          <p:cNvPr id="30" name="Shape 28"/>
          <p:cNvSpPr/>
          <p:nvPr/>
        </p:nvSpPr>
        <p:spPr>
          <a:xfrm>
            <a:off x="7059168" y="2148840"/>
            <a:ext cx="694944" cy="9144"/>
          </a:xfrm>
          <a:prstGeom prst="line">
            <a:avLst/>
          </a:prstGeom>
          <a:noFill/>
          <a:ln w="25400">
            <a:solidFill>
              <a:srgbClr val="5B6B79"/>
            </a:solidFill>
            <a:prstDash val="solid"/>
            <a:tailEnd type="triangle"/>
          </a:ln>
        </p:spPr>
      </p:sp>
      <p:sp>
        <p:nvSpPr>
          <p:cNvPr id="31" name="Text 29"/>
          <p:cNvSpPr/>
          <p:nvPr/>
        </p:nvSpPr>
        <p:spPr>
          <a:xfrm>
            <a:off x="7086600" y="1837944"/>
            <a:ext cx="640080" cy="274320"/>
          </a:xfrm>
          <a:prstGeom prst="rect">
            <a:avLst/>
          </a:prstGeom>
          <a:solidFill>
            <a:srgbClr val="EAF4F7"/>
          </a:solidFill>
          <a:ln/>
        </p:spPr>
        <p:txBody>
          <a:bodyPr wrap="square" lIns="0" tIns="0" rIns="0" bIns="0" rtlCol="0" anchor="ctr"/>
          <a:lstStyle/>
          <a:p>
            <a:pPr marL="0" indent="0" algn="ctr">
              <a:buNone/>
            </a:pPr>
            <a:r>
              <a:rPr lang="en-US" sz="1150" b="1" dirty="0">
                <a:solidFill>
                  <a:srgbClr val="16232E"/>
                </a:solidFill>
                <a:latin typeface="Calibri" pitchFamily="34" charset="0"/>
                <a:ea typeface="Calibri" pitchFamily="34" charset="-122"/>
                <a:cs typeface="Calibri" pitchFamily="34" charset="-120"/>
              </a:rPr>
              <a:t>ε</a:t>
            </a:r>
            <a:endParaRPr lang="en-US" sz="1150" dirty="0"/>
          </a:p>
        </p:txBody>
      </p:sp>
      <p:sp>
        <p:nvSpPr>
          <p:cNvPr id="32" name="Shape 30"/>
          <p:cNvSpPr/>
          <p:nvPr/>
        </p:nvSpPr>
        <p:spPr>
          <a:xfrm>
            <a:off x="8522208" y="2148840"/>
            <a:ext cx="694944" cy="9144"/>
          </a:xfrm>
          <a:prstGeom prst="line">
            <a:avLst/>
          </a:prstGeom>
          <a:noFill/>
          <a:ln w="25400">
            <a:solidFill>
              <a:srgbClr val="5B6B79"/>
            </a:solidFill>
            <a:prstDash val="solid"/>
            <a:tailEnd type="triangle"/>
          </a:ln>
        </p:spPr>
      </p:sp>
      <p:sp>
        <p:nvSpPr>
          <p:cNvPr id="33" name="Text 31"/>
          <p:cNvSpPr/>
          <p:nvPr/>
        </p:nvSpPr>
        <p:spPr>
          <a:xfrm>
            <a:off x="8549640" y="1837944"/>
            <a:ext cx="640080" cy="274320"/>
          </a:xfrm>
          <a:prstGeom prst="rect">
            <a:avLst/>
          </a:prstGeom>
          <a:solidFill>
            <a:srgbClr val="EAF4F7"/>
          </a:solidFill>
          <a:ln/>
        </p:spPr>
        <p:txBody>
          <a:bodyPr wrap="square" lIns="0" tIns="0" rIns="0" bIns="0" rtlCol="0" anchor="ctr"/>
          <a:lstStyle/>
          <a:p>
            <a:pPr marL="0" indent="0" algn="ctr">
              <a:buNone/>
            </a:pPr>
            <a:r>
              <a:rPr lang="en-US" sz="1150" b="1" dirty="0">
                <a:solidFill>
                  <a:srgbClr val="16232E"/>
                </a:solidFill>
                <a:latin typeface="Calibri" pitchFamily="34" charset="0"/>
                <a:ea typeface="Calibri" pitchFamily="34" charset="-122"/>
                <a:cs typeface="Calibri" pitchFamily="34" charset="-120"/>
              </a:rPr>
              <a:t>a</a:t>
            </a:r>
            <a:endParaRPr lang="en-US" sz="1150" dirty="0"/>
          </a:p>
        </p:txBody>
      </p:sp>
      <p:sp>
        <p:nvSpPr>
          <p:cNvPr id="34" name="Shape 32"/>
          <p:cNvSpPr/>
          <p:nvPr/>
        </p:nvSpPr>
        <p:spPr>
          <a:xfrm>
            <a:off x="7059168" y="2147926"/>
            <a:ext cx="1078992" cy="1005840"/>
          </a:xfrm>
          <a:prstGeom prst="line">
            <a:avLst/>
          </a:prstGeom>
          <a:noFill/>
          <a:ln w="25400">
            <a:solidFill>
              <a:srgbClr val="5B6B79"/>
            </a:solidFill>
            <a:prstDash val="solid"/>
          </a:ln>
        </p:spPr>
      </p:sp>
      <p:sp>
        <p:nvSpPr>
          <p:cNvPr id="35" name="Shape 33"/>
          <p:cNvSpPr/>
          <p:nvPr/>
        </p:nvSpPr>
        <p:spPr>
          <a:xfrm flipV="1">
            <a:off x="8138160" y="2148840"/>
            <a:ext cx="1078992" cy="1005840"/>
          </a:xfrm>
          <a:prstGeom prst="line">
            <a:avLst/>
          </a:prstGeom>
          <a:noFill/>
          <a:ln w="25400">
            <a:solidFill>
              <a:srgbClr val="5B6B79"/>
            </a:solidFill>
            <a:prstDash val="solid"/>
            <a:tailEnd type="triangle"/>
          </a:ln>
        </p:spPr>
      </p:sp>
      <p:sp>
        <p:nvSpPr>
          <p:cNvPr id="36" name="Text 34"/>
          <p:cNvSpPr/>
          <p:nvPr/>
        </p:nvSpPr>
        <p:spPr>
          <a:xfrm>
            <a:off x="7772400" y="2862072"/>
            <a:ext cx="731520" cy="274320"/>
          </a:xfrm>
          <a:prstGeom prst="rect">
            <a:avLst/>
          </a:prstGeom>
          <a:solidFill>
            <a:srgbClr val="EAF4F7"/>
          </a:solidFill>
          <a:ln/>
        </p:spPr>
        <p:txBody>
          <a:bodyPr wrap="square" lIns="0" tIns="0" rIns="0" bIns="0" rtlCol="0" anchor="ctr"/>
          <a:lstStyle/>
          <a:p>
            <a:pPr marL="0" indent="0" algn="ctr">
              <a:buNone/>
            </a:pPr>
            <a:r>
              <a:rPr lang="en-US" sz="1150" b="1" dirty="0">
                <a:solidFill>
                  <a:srgbClr val="16232E"/>
                </a:solidFill>
                <a:latin typeface="Calibri" pitchFamily="34" charset="0"/>
                <a:ea typeface="Calibri" pitchFamily="34" charset="-122"/>
                <a:cs typeface="Calibri" pitchFamily="34" charset="-120"/>
              </a:rPr>
              <a:t>b</a:t>
            </a:r>
            <a:endParaRPr lang="en-US" sz="1150" dirty="0"/>
          </a:p>
        </p:txBody>
      </p:sp>
      <p:sp>
        <p:nvSpPr>
          <p:cNvPr id="37" name="Text 35"/>
          <p:cNvSpPr/>
          <p:nvPr/>
        </p:nvSpPr>
        <p:spPr>
          <a:xfrm>
            <a:off x="6126480" y="3246120"/>
            <a:ext cx="3657600" cy="274320"/>
          </a:xfrm>
          <a:prstGeom prst="rect">
            <a:avLst/>
          </a:prstGeom>
          <a:noFill/>
          <a:ln/>
        </p:spPr>
        <p:txBody>
          <a:bodyPr wrap="square" rtlCol="0" anchor="ctr"/>
          <a:lstStyle/>
          <a:p>
            <a:pPr marL="0" indent="0">
              <a:buNone/>
            </a:pPr>
            <a:r>
              <a:rPr lang="en-US" sz="1200" b="1" dirty="0">
                <a:solidFill>
                  <a:srgbClr val="0E4C6B"/>
                </a:solidFill>
                <a:latin typeface="Calibri" pitchFamily="34" charset="0"/>
                <a:ea typeface="Calibri" pitchFamily="34" charset="-122"/>
                <a:cs typeface="Calibri" pitchFamily="34" charset="-120"/>
              </a:rPr>
              <a:t>Equivalent NFA (ε-free)</a:t>
            </a:r>
            <a:endParaRPr lang="en-US" sz="1200" dirty="0"/>
          </a:p>
        </p:txBody>
      </p:sp>
      <p:sp>
        <p:nvSpPr>
          <p:cNvPr id="38" name="Shape 36"/>
          <p:cNvSpPr/>
          <p:nvPr/>
        </p:nvSpPr>
        <p:spPr>
          <a:xfrm>
            <a:off x="5852160" y="4069080"/>
            <a:ext cx="457200" cy="0"/>
          </a:xfrm>
          <a:prstGeom prst="line">
            <a:avLst/>
          </a:prstGeom>
          <a:noFill/>
          <a:ln w="28575">
            <a:solidFill>
              <a:srgbClr val="0E4C6B"/>
            </a:solidFill>
            <a:prstDash val="solid"/>
            <a:tailEnd type="triangle"/>
          </a:ln>
        </p:spPr>
      </p:sp>
      <p:sp>
        <p:nvSpPr>
          <p:cNvPr id="39" name="Shape 37"/>
          <p:cNvSpPr/>
          <p:nvPr/>
        </p:nvSpPr>
        <p:spPr>
          <a:xfrm>
            <a:off x="6309360" y="3703320"/>
            <a:ext cx="731520" cy="731520"/>
          </a:xfrm>
          <a:prstGeom prst="ellipse">
            <a:avLst/>
          </a:prstGeom>
          <a:solidFill>
            <a:srgbClr val="FFFFFF"/>
          </a:solidFill>
          <a:ln w="28575">
            <a:solidFill>
              <a:srgbClr val="0E4C6B"/>
            </a:solidFill>
            <a:prstDash val="solid"/>
          </a:ln>
        </p:spPr>
      </p:sp>
      <p:sp>
        <p:nvSpPr>
          <p:cNvPr id="40" name="Text 38"/>
          <p:cNvSpPr/>
          <p:nvPr/>
        </p:nvSpPr>
        <p:spPr>
          <a:xfrm>
            <a:off x="6309360" y="3703320"/>
            <a:ext cx="731520" cy="731520"/>
          </a:xfrm>
          <a:prstGeom prst="rect">
            <a:avLst/>
          </a:prstGeom>
          <a:noFill/>
          <a:ln/>
        </p:spPr>
        <p:txBody>
          <a:bodyPr wrap="square" lIns="0" tIns="0" rIns="0" bIns="0" rtlCol="0" anchor="ctr"/>
          <a:lstStyle/>
          <a:p>
            <a:pPr marL="0" indent="0" algn="ctr">
              <a:buNone/>
            </a:pPr>
            <a:r>
              <a:rPr lang="en-US" sz="1300" b="1" dirty="0">
                <a:solidFill>
                  <a:srgbClr val="16232E"/>
                </a:solidFill>
                <a:latin typeface="Calibri" pitchFamily="34" charset="0"/>
                <a:ea typeface="Calibri" pitchFamily="34" charset="-122"/>
                <a:cs typeface="Calibri" pitchFamily="34" charset="-120"/>
              </a:rPr>
              <a:t>q0</a:t>
            </a:r>
            <a:endParaRPr lang="en-US" sz="1300" dirty="0"/>
          </a:p>
        </p:txBody>
      </p:sp>
      <p:sp>
        <p:nvSpPr>
          <p:cNvPr id="41" name="Shape 39"/>
          <p:cNvSpPr/>
          <p:nvPr/>
        </p:nvSpPr>
        <p:spPr>
          <a:xfrm>
            <a:off x="9180576" y="3648456"/>
            <a:ext cx="841248" cy="841248"/>
          </a:xfrm>
          <a:prstGeom prst="ellipse">
            <a:avLst/>
          </a:prstGeom>
          <a:noFill/>
          <a:ln w="19050">
            <a:solidFill>
              <a:srgbClr val="0E4C6B"/>
            </a:solidFill>
            <a:prstDash val="solid"/>
          </a:ln>
        </p:spPr>
      </p:sp>
      <p:sp>
        <p:nvSpPr>
          <p:cNvPr id="42" name="Shape 40"/>
          <p:cNvSpPr/>
          <p:nvPr/>
        </p:nvSpPr>
        <p:spPr>
          <a:xfrm>
            <a:off x="9235440" y="3703320"/>
            <a:ext cx="731520" cy="731520"/>
          </a:xfrm>
          <a:prstGeom prst="ellipse">
            <a:avLst/>
          </a:prstGeom>
          <a:solidFill>
            <a:srgbClr val="FFFFFF"/>
          </a:solidFill>
          <a:ln w="28575">
            <a:solidFill>
              <a:srgbClr val="0E4C6B"/>
            </a:solidFill>
            <a:prstDash val="solid"/>
          </a:ln>
        </p:spPr>
      </p:sp>
      <p:sp>
        <p:nvSpPr>
          <p:cNvPr id="43" name="Text 41"/>
          <p:cNvSpPr/>
          <p:nvPr/>
        </p:nvSpPr>
        <p:spPr>
          <a:xfrm>
            <a:off x="9235440" y="3703320"/>
            <a:ext cx="731520" cy="731520"/>
          </a:xfrm>
          <a:prstGeom prst="rect">
            <a:avLst/>
          </a:prstGeom>
          <a:noFill/>
          <a:ln/>
        </p:spPr>
        <p:txBody>
          <a:bodyPr wrap="square" lIns="0" tIns="0" rIns="0" bIns="0" rtlCol="0" anchor="ctr"/>
          <a:lstStyle/>
          <a:p>
            <a:pPr marL="0" indent="0" algn="ctr">
              <a:buNone/>
            </a:pPr>
            <a:r>
              <a:rPr lang="en-US" sz="1300" b="1" dirty="0">
                <a:solidFill>
                  <a:srgbClr val="16232E"/>
                </a:solidFill>
                <a:latin typeface="Calibri" pitchFamily="34" charset="0"/>
                <a:ea typeface="Calibri" pitchFamily="34" charset="-122"/>
                <a:cs typeface="Calibri" pitchFamily="34" charset="-120"/>
              </a:rPr>
              <a:t>q2</a:t>
            </a:r>
            <a:endParaRPr lang="en-US" sz="1300" dirty="0"/>
          </a:p>
        </p:txBody>
      </p:sp>
      <p:sp>
        <p:nvSpPr>
          <p:cNvPr id="44" name="Shape 42"/>
          <p:cNvSpPr/>
          <p:nvPr/>
        </p:nvSpPr>
        <p:spPr>
          <a:xfrm flipV="1">
            <a:off x="7059168" y="3748126"/>
            <a:ext cx="1078992" cy="320040"/>
          </a:xfrm>
          <a:prstGeom prst="line">
            <a:avLst/>
          </a:prstGeom>
          <a:noFill/>
          <a:ln w="25400">
            <a:solidFill>
              <a:srgbClr val="5B6B79"/>
            </a:solidFill>
            <a:prstDash val="solid"/>
          </a:ln>
        </p:spPr>
      </p:sp>
      <p:sp>
        <p:nvSpPr>
          <p:cNvPr id="45" name="Shape 43"/>
          <p:cNvSpPr/>
          <p:nvPr/>
        </p:nvSpPr>
        <p:spPr>
          <a:xfrm>
            <a:off x="8138160" y="3749040"/>
            <a:ext cx="1078992" cy="320040"/>
          </a:xfrm>
          <a:prstGeom prst="line">
            <a:avLst/>
          </a:prstGeom>
          <a:noFill/>
          <a:ln w="25400">
            <a:solidFill>
              <a:srgbClr val="5B6B79"/>
            </a:solidFill>
            <a:prstDash val="solid"/>
            <a:tailEnd type="triangle"/>
          </a:ln>
        </p:spPr>
      </p:sp>
      <p:sp>
        <p:nvSpPr>
          <p:cNvPr id="46" name="Text 44"/>
          <p:cNvSpPr/>
          <p:nvPr/>
        </p:nvSpPr>
        <p:spPr>
          <a:xfrm>
            <a:off x="7772400" y="3456432"/>
            <a:ext cx="731520" cy="274320"/>
          </a:xfrm>
          <a:prstGeom prst="rect">
            <a:avLst/>
          </a:prstGeom>
          <a:solidFill>
            <a:srgbClr val="EAF4F7"/>
          </a:solidFill>
          <a:ln/>
        </p:spPr>
        <p:txBody>
          <a:bodyPr wrap="square" lIns="0" tIns="0" rIns="0" bIns="0" rtlCol="0" anchor="ctr"/>
          <a:lstStyle/>
          <a:p>
            <a:pPr marL="0" indent="0" algn="ctr">
              <a:buNone/>
            </a:pPr>
            <a:r>
              <a:rPr lang="en-US" sz="1150" b="1" dirty="0">
                <a:solidFill>
                  <a:srgbClr val="16232E"/>
                </a:solidFill>
                <a:latin typeface="Calibri" pitchFamily="34" charset="0"/>
                <a:ea typeface="Calibri" pitchFamily="34" charset="-122"/>
                <a:cs typeface="Calibri" pitchFamily="34" charset="-120"/>
              </a:rPr>
              <a:t>a</a:t>
            </a:r>
            <a:endParaRPr lang="en-US" sz="1150" dirty="0"/>
          </a:p>
        </p:txBody>
      </p:sp>
      <p:sp>
        <p:nvSpPr>
          <p:cNvPr id="47" name="Shape 45"/>
          <p:cNvSpPr/>
          <p:nvPr/>
        </p:nvSpPr>
        <p:spPr>
          <a:xfrm>
            <a:off x="7059168" y="4068166"/>
            <a:ext cx="1078992" cy="320040"/>
          </a:xfrm>
          <a:prstGeom prst="line">
            <a:avLst/>
          </a:prstGeom>
          <a:noFill/>
          <a:ln w="25400">
            <a:solidFill>
              <a:srgbClr val="5B6B79"/>
            </a:solidFill>
            <a:prstDash val="solid"/>
          </a:ln>
        </p:spPr>
      </p:sp>
      <p:sp>
        <p:nvSpPr>
          <p:cNvPr id="48" name="Shape 46"/>
          <p:cNvSpPr/>
          <p:nvPr/>
        </p:nvSpPr>
        <p:spPr>
          <a:xfrm flipV="1">
            <a:off x="8138160" y="4069080"/>
            <a:ext cx="1078992" cy="320040"/>
          </a:xfrm>
          <a:prstGeom prst="line">
            <a:avLst/>
          </a:prstGeom>
          <a:noFill/>
          <a:ln w="25400">
            <a:solidFill>
              <a:srgbClr val="5B6B79"/>
            </a:solidFill>
            <a:prstDash val="solid"/>
            <a:tailEnd type="triangle"/>
          </a:ln>
        </p:spPr>
      </p:sp>
      <p:sp>
        <p:nvSpPr>
          <p:cNvPr id="49" name="Text 47"/>
          <p:cNvSpPr/>
          <p:nvPr/>
        </p:nvSpPr>
        <p:spPr>
          <a:xfrm>
            <a:off x="7772400" y="4096512"/>
            <a:ext cx="731520" cy="274320"/>
          </a:xfrm>
          <a:prstGeom prst="rect">
            <a:avLst/>
          </a:prstGeom>
          <a:solidFill>
            <a:srgbClr val="EAF4F7"/>
          </a:solidFill>
          <a:ln/>
        </p:spPr>
        <p:txBody>
          <a:bodyPr wrap="square" lIns="0" tIns="0" rIns="0" bIns="0" rtlCol="0" anchor="ctr"/>
          <a:lstStyle/>
          <a:p>
            <a:pPr marL="0" indent="0" algn="ctr">
              <a:buNone/>
            </a:pPr>
            <a:r>
              <a:rPr lang="en-US" sz="1150" b="1" dirty="0">
                <a:solidFill>
                  <a:srgbClr val="16232E"/>
                </a:solidFill>
                <a:latin typeface="Calibri" pitchFamily="34" charset="0"/>
                <a:ea typeface="Calibri" pitchFamily="34" charset="-122"/>
                <a:cs typeface="Calibri" pitchFamily="34" charset="-120"/>
              </a:rPr>
              <a:t>b</a:t>
            </a:r>
            <a:endParaRPr lang="en-US" sz="1150" dirty="0"/>
          </a:p>
        </p:txBody>
      </p:sp>
      <p:sp>
        <p:nvSpPr>
          <p:cNvPr id="50" name="Text 48"/>
          <p:cNvSpPr/>
          <p:nvPr/>
        </p:nvSpPr>
        <p:spPr>
          <a:xfrm>
            <a:off x="6126480" y="4617720"/>
            <a:ext cx="5486400" cy="365760"/>
          </a:xfrm>
          <a:prstGeom prst="rect">
            <a:avLst/>
          </a:prstGeom>
          <a:noFill/>
          <a:ln/>
        </p:spPr>
        <p:txBody>
          <a:bodyPr wrap="square" rtlCol="0" anchor="ctr"/>
          <a:lstStyle/>
          <a:p>
            <a:pPr marL="0" indent="0">
              <a:buNone/>
            </a:pPr>
            <a:r>
              <a:rPr lang="en-US" sz="1000" i="1" dirty="0">
                <a:solidFill>
                  <a:srgbClr val="5B6B79"/>
                </a:solidFill>
                <a:latin typeface="Calibri" pitchFamily="34" charset="0"/>
                <a:ea typeface="Calibri" pitchFamily="34" charset="-122"/>
                <a:cs typeface="Calibri" pitchFamily="34" charset="-120"/>
              </a:rPr>
              <a:t>(q1 is absorbed — its outgoing ‘a’ edge is copied back to q0 via the ε-closure of q0)</a:t>
            </a:r>
            <a:endParaRPr lang="en-US" sz="1000" dirty="0"/>
          </a:p>
        </p:txBody>
      </p:sp>
      <p:sp>
        <p:nvSpPr>
          <p:cNvPr id="51" name="Text 49"/>
          <p:cNvSpPr/>
          <p:nvPr/>
        </p:nvSpPr>
        <p:spPr>
          <a:xfrm>
            <a:off x="6126480" y="5074920"/>
            <a:ext cx="4572000" cy="274320"/>
          </a:xfrm>
          <a:prstGeom prst="rect">
            <a:avLst/>
          </a:prstGeom>
          <a:noFill/>
          <a:ln/>
        </p:spPr>
        <p:txBody>
          <a:bodyPr wrap="square" rtlCol="0" anchor="ctr"/>
          <a:lstStyle/>
          <a:p>
            <a:pPr marL="0" indent="0">
              <a:buNone/>
            </a:pPr>
            <a:r>
              <a:rPr lang="en-US" sz="1200" b="1" dirty="0">
                <a:solidFill>
                  <a:srgbClr val="0E4C6B"/>
                </a:solidFill>
                <a:latin typeface="Calibri" pitchFamily="34" charset="0"/>
                <a:ea typeface="Calibri" pitchFamily="34" charset="-122"/>
                <a:cs typeface="Calibri" pitchFamily="34" charset="-120"/>
              </a:rPr>
              <a:t>Transition Table (→ initial, * final)</a:t>
            </a:r>
            <a:endParaRPr lang="en-US" sz="12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6126480" y="5394960"/>
          <a:ext cx="4206240" cy="914400"/>
        </p:xfrm>
        <a:graphic>
          <a:graphicData uri="http://schemas.openxmlformats.org/drawingml/2006/table">
            <a:tbl>
              <a:tblPr/>
              <a:tblGrid>
                <a:gridCol w="16459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30480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State</a:t>
                      </a:r>
                      <a:endParaRPr lang="en-US" sz="1150" dirty="0">
                        <a:latin typeface="Calibri" charset="0"/>
                        <a:ea typeface="Calibri" charset="0"/>
                        <a:cs typeface="Calibri" charset="0"/>
                      </a:endParaRPr>
                    </a:p>
                  </a:txBody>
                  <a:tcPr>
                    <a:lnL w="12700" cap="flat" cmpd="sng" algn="ctr">
                      <a:solidFill>
                        <a:srgbClr val="C9D6DE"/>
                      </a:solidFill>
                      <a:prstDash val="solid"/>
                      <a:round/>
                      <a:headEnd type="none" w="med" len="med"/>
                      <a:tailEnd type="none" w="med" len="med"/>
                    </a:lnL>
                    <a:lnR w="12700" cap="flat" cmpd="sng" algn="ctr">
                      <a:solidFill>
                        <a:srgbClr val="C9D6DE"/>
                      </a:solidFill>
                      <a:prstDash val="solid"/>
                      <a:round/>
                      <a:headEnd type="none" w="med" len="med"/>
                      <a:tailEnd type="none" w="med" len="med"/>
                    </a:lnR>
                    <a:lnT w="12700" cap="flat" cmpd="sng" algn="ctr">
                      <a:solidFill>
                        <a:srgbClr val="C9D6DE"/>
                      </a:solidFill>
                      <a:prstDash val="solid"/>
                      <a:round/>
                      <a:headEnd type="none" w="med" len="med"/>
                      <a:tailEnd type="none" w="med" len="med"/>
                    </a:lnT>
                    <a:lnB w="12700" cap="flat" cmpd="sng" algn="ctr">
                      <a:solidFill>
                        <a:srgbClr val="C9D6DE"/>
                      </a:solidFill>
                      <a:prstDash val="solid"/>
                      <a:round/>
                      <a:headEnd type="none" w="med" len="med"/>
                      <a:tailEnd type="none" w="med" len="med"/>
                    </a:lnB>
                    <a:solidFill>
                      <a:srgbClr val="0B1F3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a:t>
                      </a:r>
                      <a:endParaRPr lang="en-US" sz="1150" dirty="0">
                        <a:latin typeface="Calibri" charset="0"/>
                        <a:ea typeface="Calibri" charset="0"/>
                        <a:cs typeface="Calibri" charset="0"/>
                      </a:endParaRPr>
                    </a:p>
                  </a:txBody>
                  <a:tcPr>
                    <a:lnL w="12700" cap="flat" cmpd="sng" algn="ctr">
                      <a:solidFill>
                        <a:srgbClr val="C9D6DE"/>
                      </a:solidFill>
                      <a:prstDash val="solid"/>
                      <a:round/>
                      <a:headEnd type="none" w="med" len="med"/>
                      <a:tailEnd type="none" w="med" len="med"/>
                    </a:lnL>
                    <a:lnR w="12700" cap="flat" cmpd="sng" algn="ctr">
                      <a:solidFill>
                        <a:srgbClr val="C9D6DE"/>
                      </a:solidFill>
                      <a:prstDash val="solid"/>
                      <a:round/>
                      <a:headEnd type="none" w="med" len="med"/>
                      <a:tailEnd type="none" w="med" len="med"/>
                    </a:lnR>
                    <a:lnT w="12700" cap="flat" cmpd="sng" algn="ctr">
                      <a:solidFill>
                        <a:srgbClr val="C9D6DE"/>
                      </a:solidFill>
                      <a:prstDash val="solid"/>
                      <a:round/>
                      <a:headEnd type="none" w="med" len="med"/>
                      <a:tailEnd type="none" w="med" len="med"/>
                    </a:lnT>
                    <a:lnB w="12700" cap="flat" cmpd="sng" algn="ctr">
                      <a:solidFill>
                        <a:srgbClr val="C9D6DE"/>
                      </a:solidFill>
                      <a:prstDash val="solid"/>
                      <a:round/>
                      <a:headEnd type="none" w="med" len="med"/>
                      <a:tailEnd type="none" w="med" len="med"/>
                    </a:lnB>
                    <a:solidFill>
                      <a:srgbClr val="0B1F3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b</a:t>
                      </a:r>
                      <a:endParaRPr lang="en-US" sz="1150" dirty="0">
                        <a:latin typeface="Calibri" charset="0"/>
                        <a:ea typeface="Calibri" charset="0"/>
                        <a:cs typeface="Calibri" charset="0"/>
                      </a:endParaRPr>
                    </a:p>
                  </a:txBody>
                  <a:tcPr>
                    <a:lnL w="12700" cap="flat" cmpd="sng" algn="ctr">
                      <a:solidFill>
                        <a:srgbClr val="C9D6DE"/>
                      </a:solidFill>
                      <a:prstDash val="solid"/>
                      <a:round/>
                      <a:headEnd type="none" w="med" len="med"/>
                      <a:tailEnd type="none" w="med" len="med"/>
                    </a:lnL>
                    <a:lnR w="12700" cap="flat" cmpd="sng" algn="ctr">
                      <a:solidFill>
                        <a:srgbClr val="C9D6DE"/>
                      </a:solidFill>
                      <a:prstDash val="solid"/>
                      <a:round/>
                      <a:headEnd type="none" w="med" len="med"/>
                      <a:tailEnd type="none" w="med" len="med"/>
                    </a:lnR>
                    <a:lnT w="12700" cap="flat" cmpd="sng" algn="ctr">
                      <a:solidFill>
                        <a:srgbClr val="C9D6DE"/>
                      </a:solidFill>
                      <a:prstDash val="solid"/>
                      <a:round/>
                      <a:headEnd type="none" w="med" len="med"/>
                      <a:tailEnd type="none" w="med" len="med"/>
                    </a:lnT>
                    <a:lnB w="12700" cap="flat" cmpd="sng" algn="ctr">
                      <a:solidFill>
                        <a:srgbClr val="C9D6DE"/>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304800">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 q0</a:t>
                      </a:r>
                      <a:endParaRPr lang="en-US" sz="1150" dirty="0">
                        <a:latin typeface="Calibri" charset="0"/>
                        <a:ea typeface="Calibri" charset="0"/>
                        <a:cs typeface="Calibri" charset="0"/>
                      </a:endParaRPr>
                    </a:p>
                  </a:txBody>
                  <a:tcPr>
                    <a:lnL w="12700" cap="flat" cmpd="sng" algn="ctr">
                      <a:solidFill>
                        <a:srgbClr val="C9D6DE"/>
                      </a:solidFill>
                      <a:prstDash val="solid"/>
                      <a:round/>
                      <a:headEnd type="none" w="med" len="med"/>
                      <a:tailEnd type="none" w="med" len="med"/>
                    </a:lnL>
                    <a:lnR w="12700" cap="flat" cmpd="sng" algn="ctr">
                      <a:solidFill>
                        <a:srgbClr val="C9D6DE"/>
                      </a:solidFill>
                      <a:prstDash val="solid"/>
                      <a:round/>
                      <a:headEnd type="none" w="med" len="med"/>
                      <a:tailEnd type="none" w="med" len="med"/>
                    </a:lnR>
                    <a:lnT w="12700" cap="flat" cmpd="sng" algn="ctr">
                      <a:solidFill>
                        <a:srgbClr val="C9D6DE"/>
                      </a:solidFill>
                      <a:prstDash val="solid"/>
                      <a:round/>
                      <a:headEnd type="none" w="med" len="med"/>
                      <a:tailEnd type="none" w="med" len="med"/>
                    </a:lnT>
                    <a:lnB w="12700" cap="flat" cmpd="sng" algn="ctr">
                      <a:solidFill>
                        <a:srgbClr val="C9D6DE"/>
                      </a:solidFill>
                      <a:prstDash val="solid"/>
                      <a:round/>
                      <a:headEnd type="none" w="med" len="med"/>
                      <a:tailEnd type="none" w="med" len="med"/>
                    </a:lnB>
                  </a:tcPr>
                </a:tc>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q2</a:t>
                      </a:r>
                      <a:endParaRPr lang="en-US" sz="1150" dirty="0">
                        <a:latin typeface="Calibri" charset="0"/>
                        <a:ea typeface="Calibri" charset="0"/>
                        <a:cs typeface="Calibri" charset="0"/>
                      </a:endParaRPr>
                    </a:p>
                  </a:txBody>
                  <a:tcPr>
                    <a:lnL w="12700" cap="flat" cmpd="sng" algn="ctr">
                      <a:solidFill>
                        <a:srgbClr val="C9D6DE"/>
                      </a:solidFill>
                      <a:prstDash val="solid"/>
                      <a:round/>
                      <a:headEnd type="none" w="med" len="med"/>
                      <a:tailEnd type="none" w="med" len="med"/>
                    </a:lnL>
                    <a:lnR w="12700" cap="flat" cmpd="sng" algn="ctr">
                      <a:solidFill>
                        <a:srgbClr val="C9D6DE"/>
                      </a:solidFill>
                      <a:prstDash val="solid"/>
                      <a:round/>
                      <a:headEnd type="none" w="med" len="med"/>
                      <a:tailEnd type="none" w="med" len="med"/>
                    </a:lnR>
                    <a:lnT w="12700" cap="flat" cmpd="sng" algn="ctr">
                      <a:solidFill>
                        <a:srgbClr val="C9D6DE"/>
                      </a:solidFill>
                      <a:prstDash val="solid"/>
                      <a:round/>
                      <a:headEnd type="none" w="med" len="med"/>
                      <a:tailEnd type="none" w="med" len="med"/>
                    </a:lnT>
                    <a:lnB w="12700" cap="flat" cmpd="sng" algn="ctr">
                      <a:solidFill>
                        <a:srgbClr val="C9D6DE"/>
                      </a:solidFill>
                      <a:prstDash val="solid"/>
                      <a:round/>
                      <a:headEnd type="none" w="med" len="med"/>
                      <a:tailEnd type="none" w="med" len="med"/>
                    </a:lnB>
                  </a:tcPr>
                </a:tc>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q2</a:t>
                      </a:r>
                      <a:endParaRPr lang="en-US" sz="1150" dirty="0">
                        <a:latin typeface="Calibri" charset="0"/>
                        <a:ea typeface="Calibri" charset="0"/>
                        <a:cs typeface="Calibri" charset="0"/>
                      </a:endParaRPr>
                    </a:p>
                  </a:txBody>
                  <a:tcPr>
                    <a:lnL w="12700" cap="flat" cmpd="sng" algn="ctr">
                      <a:solidFill>
                        <a:srgbClr val="C9D6DE"/>
                      </a:solidFill>
                      <a:prstDash val="solid"/>
                      <a:round/>
                      <a:headEnd type="none" w="med" len="med"/>
                      <a:tailEnd type="none" w="med" len="med"/>
                    </a:lnL>
                    <a:lnR w="12700" cap="flat" cmpd="sng" algn="ctr">
                      <a:solidFill>
                        <a:srgbClr val="C9D6DE"/>
                      </a:solidFill>
                      <a:prstDash val="solid"/>
                      <a:round/>
                      <a:headEnd type="none" w="med" len="med"/>
                      <a:tailEnd type="none" w="med" len="med"/>
                    </a:lnR>
                    <a:lnT w="12700" cap="flat" cmpd="sng" algn="ctr">
                      <a:solidFill>
                        <a:srgbClr val="C9D6DE"/>
                      </a:solidFill>
                      <a:prstDash val="solid"/>
                      <a:round/>
                      <a:headEnd type="none" w="med" len="med"/>
                      <a:tailEnd type="none" w="med" len="med"/>
                    </a:lnT>
                    <a:lnB w="12700" cap="flat" cmpd="sng" algn="ctr">
                      <a:solidFill>
                        <a:srgbClr val="C9D6DE"/>
                      </a:solidFill>
                      <a:prstDash val="solid"/>
                      <a:round/>
                      <a:headEnd type="none" w="med" len="med"/>
                      <a:tailEnd type="none" w="med" len="med"/>
                    </a:lnB>
                  </a:tcPr>
                </a:tc>
                <a:extLst>
                  <a:ext uri="{0D108BD9-81ED-4DB2-BD59-A6C34878D82A}">
                    <a16:rowId xmlns:a16="http://schemas.microsoft.com/office/drawing/2014/main" val="10001"/>
                  </a:ext>
                </a:extLst>
              </a:tr>
              <a:tr h="304800">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 q2</a:t>
                      </a:r>
                      <a:endParaRPr lang="en-US" sz="1150" dirty="0">
                        <a:latin typeface="Calibri" charset="0"/>
                        <a:ea typeface="Calibri" charset="0"/>
                        <a:cs typeface="Calibri" charset="0"/>
                      </a:endParaRPr>
                    </a:p>
                  </a:txBody>
                  <a:tcPr>
                    <a:lnL w="12700" cap="flat" cmpd="sng" algn="ctr">
                      <a:solidFill>
                        <a:srgbClr val="C9D6DE"/>
                      </a:solidFill>
                      <a:prstDash val="solid"/>
                      <a:round/>
                      <a:headEnd type="none" w="med" len="med"/>
                      <a:tailEnd type="none" w="med" len="med"/>
                    </a:lnL>
                    <a:lnR w="12700" cap="flat" cmpd="sng" algn="ctr">
                      <a:solidFill>
                        <a:srgbClr val="C9D6DE"/>
                      </a:solidFill>
                      <a:prstDash val="solid"/>
                      <a:round/>
                      <a:headEnd type="none" w="med" len="med"/>
                      <a:tailEnd type="none" w="med" len="med"/>
                    </a:lnR>
                    <a:lnT w="12700" cap="flat" cmpd="sng" algn="ctr">
                      <a:solidFill>
                        <a:srgbClr val="C9D6DE"/>
                      </a:solidFill>
                      <a:prstDash val="solid"/>
                      <a:round/>
                      <a:headEnd type="none" w="med" len="med"/>
                      <a:tailEnd type="none" w="med" len="med"/>
                    </a:lnT>
                    <a:lnB w="12700" cap="flat" cmpd="sng" algn="ctr">
                      <a:solidFill>
                        <a:srgbClr val="C9D6DE"/>
                      </a:solidFill>
                      <a:prstDash val="solid"/>
                      <a:round/>
                      <a:headEnd type="none" w="med" len="med"/>
                      <a:tailEnd type="none" w="med" len="med"/>
                    </a:lnB>
                  </a:tcPr>
                </a:tc>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a:lnL w="12700" cap="flat" cmpd="sng" algn="ctr">
                      <a:solidFill>
                        <a:srgbClr val="C9D6DE"/>
                      </a:solidFill>
                      <a:prstDash val="solid"/>
                      <a:round/>
                      <a:headEnd type="none" w="med" len="med"/>
                      <a:tailEnd type="none" w="med" len="med"/>
                    </a:lnL>
                    <a:lnR w="12700" cap="flat" cmpd="sng" algn="ctr">
                      <a:solidFill>
                        <a:srgbClr val="C9D6DE"/>
                      </a:solidFill>
                      <a:prstDash val="solid"/>
                      <a:round/>
                      <a:headEnd type="none" w="med" len="med"/>
                      <a:tailEnd type="none" w="med" len="med"/>
                    </a:lnR>
                    <a:lnT w="12700" cap="flat" cmpd="sng" algn="ctr">
                      <a:solidFill>
                        <a:srgbClr val="C9D6DE"/>
                      </a:solidFill>
                      <a:prstDash val="solid"/>
                      <a:round/>
                      <a:headEnd type="none" w="med" len="med"/>
                      <a:tailEnd type="none" w="med" len="med"/>
                    </a:lnT>
                    <a:lnB w="12700" cap="flat" cmpd="sng" algn="ctr">
                      <a:solidFill>
                        <a:srgbClr val="C9D6DE"/>
                      </a:solidFill>
                      <a:prstDash val="solid"/>
                      <a:round/>
                      <a:headEnd type="none" w="med" len="med"/>
                      <a:tailEnd type="none" w="med" len="med"/>
                    </a:lnB>
                  </a:tcPr>
                </a:tc>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a:lnL w="12700" cap="flat" cmpd="sng" algn="ctr">
                      <a:solidFill>
                        <a:srgbClr val="C9D6DE"/>
                      </a:solidFill>
                      <a:prstDash val="solid"/>
                      <a:round/>
                      <a:headEnd type="none" w="med" len="med"/>
                      <a:tailEnd type="none" w="med" len="med"/>
                    </a:lnL>
                    <a:lnR w="12700" cap="flat" cmpd="sng" algn="ctr">
                      <a:solidFill>
                        <a:srgbClr val="C9D6DE"/>
                      </a:solidFill>
                      <a:prstDash val="solid"/>
                      <a:round/>
                      <a:headEnd type="none" w="med" len="med"/>
                      <a:tailEnd type="none" w="med" len="med"/>
                    </a:lnR>
                    <a:lnT w="12700" cap="flat" cmpd="sng" algn="ctr">
                      <a:solidFill>
                        <a:srgbClr val="C9D6DE"/>
                      </a:solidFill>
                      <a:prstDash val="solid"/>
                      <a:round/>
                      <a:headEnd type="none" w="med" len="med"/>
                      <a:tailEnd type="none" w="med" len="med"/>
                    </a:lnT>
                    <a:lnB w="12700" cap="flat" cmpd="sng" algn="ctr">
                      <a:solidFill>
                        <a:srgbClr val="C9D6DE"/>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3" name="Text 50"/>
          <p:cNvSpPr/>
          <p:nvPr/>
        </p:nvSpPr>
        <p:spPr>
          <a:xfrm>
            <a:off x="457200" y="6528816"/>
            <a:ext cx="7772400" cy="274320"/>
          </a:xfrm>
          <a:prstGeom prst="rect">
            <a:avLst/>
          </a:prstGeom>
          <a:noFill/>
          <a:ln/>
        </p:spPr>
        <p:txBody>
          <a:bodyPr wrap="square" rtlCol="0" anchor="ctr"/>
          <a:lstStyle/>
          <a:p>
            <a:pPr marL="0" indent="0">
              <a:buNone/>
            </a:pPr>
            <a:r>
              <a:rPr lang="en-US" sz="950" dirty="0">
                <a:solidFill>
                  <a:srgbClr val="5B6B79"/>
                </a:solidFill>
                <a:latin typeface="Calibri" pitchFamily="34" charset="0"/>
                <a:ea typeface="Calibri" pitchFamily="34" charset="-122"/>
                <a:cs typeface="Calibri" pitchFamily="34" charset="-120"/>
              </a:rPr>
              <a:t>CO1 · Theory of Computation (CSA13) · Technical Presentation</a:t>
            </a:r>
            <a:endParaRPr lang="en-US" sz="950" dirty="0"/>
          </a:p>
        </p:txBody>
      </p:sp>
      <p:sp>
        <p:nvSpPr>
          <p:cNvPr id="54" name="Text 51"/>
          <p:cNvSpPr/>
          <p:nvPr/>
        </p:nvSpPr>
        <p:spPr>
          <a:xfrm>
            <a:off x="11430000" y="6528816"/>
            <a:ext cx="365760" cy="274320"/>
          </a:xfrm>
          <a:prstGeom prst="rect">
            <a:avLst/>
          </a:prstGeom>
          <a:noFill/>
          <a:ln/>
        </p:spPr>
        <p:txBody>
          <a:bodyPr wrap="square" rtlCol="0" anchor="ctr"/>
          <a:lstStyle/>
          <a:p>
            <a:pPr marL="0" indent="0" algn="r">
              <a:buNone/>
            </a:pPr>
            <a:r>
              <a:rPr lang="en-US" sz="950" dirty="0">
                <a:solidFill>
                  <a:srgbClr val="5B6B79"/>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w="12700">
            <a:solidFill>
              <a:srgbClr val="0B1F3A"/>
            </a:solidFill>
            <a:prstDash val="solid"/>
          </a:ln>
        </p:spPr>
      </p:sp>
      <p:sp>
        <p:nvSpPr>
          <p:cNvPr id="3" name="Text 1"/>
          <p:cNvSpPr/>
          <p:nvPr/>
        </p:nvSpPr>
        <p:spPr>
          <a:xfrm>
            <a:off x="502920" y="146304"/>
            <a:ext cx="2011680" cy="411480"/>
          </a:xfrm>
          <a:prstGeom prst="rect">
            <a:avLst/>
          </a:prstGeom>
          <a:noFill/>
          <a:ln/>
        </p:spPr>
        <p:txBody>
          <a:bodyPr wrap="square" rtlCol="0" anchor="ctr"/>
          <a:lstStyle/>
          <a:p>
            <a:pPr marL="0" indent="0">
              <a:buNone/>
            </a:pPr>
            <a:r>
              <a:rPr lang="en-US" sz="1300" b="1" kern="0" spc="100" dirty="0">
                <a:solidFill>
                  <a:srgbClr val="4FD1C5"/>
                </a:solidFill>
                <a:latin typeface="Calibri" pitchFamily="34" charset="0"/>
                <a:ea typeface="Calibri" pitchFamily="34" charset="-122"/>
                <a:cs typeface="Calibri" pitchFamily="34" charset="-120"/>
              </a:rPr>
              <a:t>QUESTION 4</a:t>
            </a:r>
            <a:endParaRPr lang="en-US" sz="1300" dirty="0"/>
          </a:p>
        </p:txBody>
      </p:sp>
      <p:sp>
        <p:nvSpPr>
          <p:cNvPr id="4" name="Text 2"/>
          <p:cNvSpPr/>
          <p:nvPr/>
        </p:nvSpPr>
        <p:spPr>
          <a:xfrm>
            <a:off x="457200" y="457200"/>
            <a:ext cx="11247120" cy="54864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ε-Closure and ε-NFA → DFA Conversion</a:t>
            </a:r>
            <a:endParaRPr lang="en-US" sz="2500" dirty="0"/>
          </a:p>
        </p:txBody>
      </p:sp>
      <p:sp>
        <p:nvSpPr>
          <p:cNvPr id="5" name="Text 3"/>
          <p:cNvSpPr/>
          <p:nvPr/>
        </p:nvSpPr>
        <p:spPr>
          <a:xfrm>
            <a:off x="502920" y="1325880"/>
            <a:ext cx="5029200" cy="320040"/>
          </a:xfrm>
          <a:prstGeom prst="rect">
            <a:avLst/>
          </a:prstGeom>
          <a:noFill/>
          <a:ln/>
        </p:spPr>
        <p:txBody>
          <a:bodyPr wrap="square" rtlCol="0" anchor="ctr"/>
          <a:lstStyle/>
          <a:p>
            <a:pPr marL="0" indent="0">
              <a:buNone/>
            </a:pPr>
            <a:r>
              <a:rPr lang="en-US" sz="1500" b="1" dirty="0">
                <a:solidFill>
                  <a:srgbClr val="0E4C6B"/>
                </a:solidFill>
                <a:latin typeface="Cambria" pitchFamily="34" charset="0"/>
                <a:ea typeface="Cambria" pitchFamily="34" charset="-122"/>
                <a:cs typeface="Cambria" pitchFamily="34" charset="-120"/>
              </a:rPr>
              <a:t>Method</a:t>
            </a:r>
            <a:endParaRPr lang="en-US" sz="1500" dirty="0"/>
          </a:p>
        </p:txBody>
      </p:sp>
      <p:sp>
        <p:nvSpPr>
          <p:cNvPr id="6" name="Shape 4"/>
          <p:cNvSpPr/>
          <p:nvPr/>
        </p:nvSpPr>
        <p:spPr>
          <a:xfrm>
            <a:off x="502920" y="1709928"/>
            <a:ext cx="256032" cy="256032"/>
          </a:xfrm>
          <a:prstGeom prst="ellipse">
            <a:avLst/>
          </a:prstGeom>
          <a:solidFill>
            <a:srgbClr val="1C8C93"/>
          </a:solidFill>
          <a:ln w="12700">
            <a:solidFill>
              <a:srgbClr val="1C8C93"/>
            </a:solidFill>
            <a:prstDash val="solid"/>
          </a:ln>
        </p:spPr>
      </p:sp>
      <p:sp>
        <p:nvSpPr>
          <p:cNvPr id="7" name="Text 5"/>
          <p:cNvSpPr/>
          <p:nvPr/>
        </p:nvSpPr>
        <p:spPr>
          <a:xfrm>
            <a:off x="502920" y="1709928"/>
            <a:ext cx="256032"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8" name="Text 6"/>
          <p:cNvSpPr/>
          <p:nvPr/>
        </p:nvSpPr>
        <p:spPr>
          <a:xfrm>
            <a:off x="886968" y="1636776"/>
            <a:ext cx="4645152" cy="502920"/>
          </a:xfrm>
          <a:prstGeom prst="rect">
            <a:avLst/>
          </a:prstGeom>
          <a:noFill/>
          <a:ln/>
        </p:spPr>
        <p:txBody>
          <a:bodyPr wrap="square" rtlCol="0" anchor="ctr"/>
          <a:lstStyle/>
          <a:p>
            <a:pPr marL="0" indent="0">
              <a:lnSpc>
                <a:spcPct val="110000"/>
              </a:lnSpc>
              <a:buNone/>
            </a:pPr>
            <a:r>
              <a:rPr lang="en-US" sz="1150" dirty="0">
                <a:solidFill>
                  <a:srgbClr val="16232E"/>
                </a:solidFill>
                <a:latin typeface="Calibri" pitchFamily="34" charset="0"/>
                <a:ea typeface="Calibri" pitchFamily="34" charset="-122"/>
                <a:cs typeface="Calibri" pitchFamily="34" charset="-120"/>
              </a:rPr>
              <a:t>ε-closure(q): all states reachable from q using only ε-edges (including q itself).</a:t>
            </a:r>
            <a:endParaRPr lang="en-US" sz="1150" dirty="0"/>
          </a:p>
        </p:txBody>
      </p:sp>
      <p:sp>
        <p:nvSpPr>
          <p:cNvPr id="9" name="Shape 7"/>
          <p:cNvSpPr/>
          <p:nvPr/>
        </p:nvSpPr>
        <p:spPr>
          <a:xfrm>
            <a:off x="502920" y="2331720"/>
            <a:ext cx="256032" cy="256032"/>
          </a:xfrm>
          <a:prstGeom prst="ellipse">
            <a:avLst/>
          </a:prstGeom>
          <a:solidFill>
            <a:srgbClr val="1C8C93"/>
          </a:solidFill>
          <a:ln w="12700">
            <a:solidFill>
              <a:srgbClr val="1C8C93"/>
            </a:solidFill>
            <a:prstDash val="solid"/>
          </a:ln>
        </p:spPr>
      </p:sp>
      <p:sp>
        <p:nvSpPr>
          <p:cNvPr id="10" name="Text 8"/>
          <p:cNvSpPr/>
          <p:nvPr/>
        </p:nvSpPr>
        <p:spPr>
          <a:xfrm>
            <a:off x="502920" y="2331720"/>
            <a:ext cx="256032"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1" name="Text 9"/>
          <p:cNvSpPr/>
          <p:nvPr/>
        </p:nvSpPr>
        <p:spPr>
          <a:xfrm>
            <a:off x="886968" y="2258568"/>
            <a:ext cx="4645152" cy="502920"/>
          </a:xfrm>
          <a:prstGeom prst="rect">
            <a:avLst/>
          </a:prstGeom>
          <a:noFill/>
          <a:ln/>
        </p:spPr>
        <p:txBody>
          <a:bodyPr wrap="square" rtlCol="0" anchor="ctr"/>
          <a:lstStyle/>
          <a:p>
            <a:pPr marL="0" indent="0">
              <a:lnSpc>
                <a:spcPct val="110000"/>
              </a:lnSpc>
              <a:buNone/>
            </a:pPr>
            <a:r>
              <a:rPr lang="en-US" sz="1150" dirty="0">
                <a:solidFill>
                  <a:srgbClr val="16232E"/>
                </a:solidFill>
                <a:latin typeface="Calibri" pitchFamily="34" charset="0"/>
                <a:ea typeface="Calibri" pitchFamily="34" charset="-122"/>
                <a:cs typeface="Calibri" pitchFamily="34" charset="-120"/>
              </a:rPr>
              <a:t>DFA start state = ε-closure(q₀).</a:t>
            </a:r>
            <a:endParaRPr lang="en-US" sz="1150" dirty="0"/>
          </a:p>
        </p:txBody>
      </p:sp>
      <p:sp>
        <p:nvSpPr>
          <p:cNvPr id="12" name="Shape 10"/>
          <p:cNvSpPr/>
          <p:nvPr/>
        </p:nvSpPr>
        <p:spPr>
          <a:xfrm>
            <a:off x="502920" y="2953512"/>
            <a:ext cx="256032" cy="256032"/>
          </a:xfrm>
          <a:prstGeom prst="ellipse">
            <a:avLst/>
          </a:prstGeom>
          <a:solidFill>
            <a:srgbClr val="1C8C93"/>
          </a:solidFill>
          <a:ln w="12700">
            <a:solidFill>
              <a:srgbClr val="1C8C93"/>
            </a:solidFill>
            <a:prstDash val="solid"/>
          </a:ln>
        </p:spPr>
      </p:sp>
      <p:sp>
        <p:nvSpPr>
          <p:cNvPr id="13" name="Text 11"/>
          <p:cNvSpPr/>
          <p:nvPr/>
        </p:nvSpPr>
        <p:spPr>
          <a:xfrm>
            <a:off x="502920" y="2953512"/>
            <a:ext cx="256032"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4" name="Text 12"/>
          <p:cNvSpPr/>
          <p:nvPr/>
        </p:nvSpPr>
        <p:spPr>
          <a:xfrm>
            <a:off x="886968" y="2880360"/>
            <a:ext cx="4645152" cy="502920"/>
          </a:xfrm>
          <a:prstGeom prst="rect">
            <a:avLst/>
          </a:prstGeom>
          <a:noFill/>
          <a:ln/>
        </p:spPr>
        <p:txBody>
          <a:bodyPr wrap="square" rtlCol="0" anchor="ctr"/>
          <a:lstStyle/>
          <a:p>
            <a:pPr marL="0" indent="0">
              <a:lnSpc>
                <a:spcPct val="110000"/>
              </a:lnSpc>
              <a:buNone/>
            </a:pPr>
            <a:r>
              <a:rPr lang="en-US" sz="1150" dirty="0">
                <a:solidFill>
                  <a:srgbClr val="16232E"/>
                </a:solidFill>
                <a:latin typeface="Calibri" pitchFamily="34" charset="0"/>
                <a:ea typeface="Calibri" pitchFamily="34" charset="-122"/>
                <a:cs typeface="Calibri" pitchFamily="34" charset="-120"/>
              </a:rPr>
              <a:t>δ'(S, a) = ε-closure( ⋃ δ(q, a) for q ∈ S ).</a:t>
            </a:r>
            <a:endParaRPr lang="en-US" sz="1150" dirty="0"/>
          </a:p>
        </p:txBody>
      </p:sp>
      <p:sp>
        <p:nvSpPr>
          <p:cNvPr id="15" name="Shape 13"/>
          <p:cNvSpPr/>
          <p:nvPr/>
        </p:nvSpPr>
        <p:spPr>
          <a:xfrm>
            <a:off x="502920" y="3575304"/>
            <a:ext cx="256032" cy="256032"/>
          </a:xfrm>
          <a:prstGeom prst="ellipse">
            <a:avLst/>
          </a:prstGeom>
          <a:solidFill>
            <a:srgbClr val="1C8C93"/>
          </a:solidFill>
          <a:ln w="12700">
            <a:solidFill>
              <a:srgbClr val="1C8C93"/>
            </a:solidFill>
            <a:prstDash val="solid"/>
          </a:ln>
        </p:spPr>
      </p:sp>
      <p:sp>
        <p:nvSpPr>
          <p:cNvPr id="16" name="Text 14"/>
          <p:cNvSpPr/>
          <p:nvPr/>
        </p:nvSpPr>
        <p:spPr>
          <a:xfrm>
            <a:off x="502920" y="3575304"/>
            <a:ext cx="256032"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17" name="Text 15"/>
          <p:cNvSpPr/>
          <p:nvPr/>
        </p:nvSpPr>
        <p:spPr>
          <a:xfrm>
            <a:off x="886968" y="3502152"/>
            <a:ext cx="4645152" cy="502920"/>
          </a:xfrm>
          <a:prstGeom prst="rect">
            <a:avLst/>
          </a:prstGeom>
          <a:noFill/>
          <a:ln/>
        </p:spPr>
        <p:txBody>
          <a:bodyPr wrap="square" rtlCol="0" anchor="ctr"/>
          <a:lstStyle/>
          <a:p>
            <a:pPr marL="0" indent="0">
              <a:lnSpc>
                <a:spcPct val="110000"/>
              </a:lnSpc>
              <a:buNone/>
            </a:pPr>
            <a:r>
              <a:rPr lang="en-US" sz="1150" dirty="0">
                <a:solidFill>
                  <a:srgbClr val="16232E"/>
                </a:solidFill>
                <a:latin typeface="Calibri" pitchFamily="34" charset="0"/>
                <a:ea typeface="Calibri" pitchFamily="34" charset="-122"/>
                <a:cs typeface="Calibri" pitchFamily="34" charset="-120"/>
              </a:rPr>
              <a:t>A DFA state is final if its underlying set contains any original final state.</a:t>
            </a:r>
            <a:endParaRPr lang="en-US" sz="1150" dirty="0"/>
          </a:p>
        </p:txBody>
      </p:sp>
      <p:sp>
        <p:nvSpPr>
          <p:cNvPr id="18" name="Shape 16"/>
          <p:cNvSpPr/>
          <p:nvPr/>
        </p:nvSpPr>
        <p:spPr>
          <a:xfrm>
            <a:off x="502920" y="4197096"/>
            <a:ext cx="256032" cy="256032"/>
          </a:xfrm>
          <a:prstGeom prst="ellipse">
            <a:avLst/>
          </a:prstGeom>
          <a:solidFill>
            <a:srgbClr val="1C8C93"/>
          </a:solidFill>
          <a:ln w="12700">
            <a:solidFill>
              <a:srgbClr val="1C8C93"/>
            </a:solidFill>
            <a:prstDash val="solid"/>
          </a:ln>
        </p:spPr>
      </p:sp>
      <p:sp>
        <p:nvSpPr>
          <p:cNvPr id="19" name="Text 17"/>
          <p:cNvSpPr/>
          <p:nvPr/>
        </p:nvSpPr>
        <p:spPr>
          <a:xfrm>
            <a:off x="502920" y="4197096"/>
            <a:ext cx="256032"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0" name="Text 18"/>
          <p:cNvSpPr/>
          <p:nvPr/>
        </p:nvSpPr>
        <p:spPr>
          <a:xfrm>
            <a:off x="886968" y="4123944"/>
            <a:ext cx="4645152" cy="502920"/>
          </a:xfrm>
          <a:prstGeom prst="rect">
            <a:avLst/>
          </a:prstGeom>
          <a:noFill/>
          <a:ln/>
        </p:spPr>
        <p:txBody>
          <a:bodyPr wrap="square" rtlCol="0" anchor="ctr"/>
          <a:lstStyle/>
          <a:p>
            <a:pPr marL="0" indent="0">
              <a:lnSpc>
                <a:spcPct val="110000"/>
              </a:lnSpc>
              <a:buNone/>
            </a:pPr>
            <a:r>
              <a:rPr lang="en-US" sz="1150" dirty="0">
                <a:solidFill>
                  <a:srgbClr val="16232E"/>
                </a:solidFill>
                <a:latin typeface="Calibri" pitchFamily="34" charset="0"/>
                <a:ea typeface="Calibri" pitchFamily="34" charset="-122"/>
                <a:cs typeface="Calibri" pitchFamily="34" charset="-120"/>
              </a:rPr>
              <a:t>Repeat transition-building until every reachable subset is processed.</a:t>
            </a:r>
            <a:endParaRPr lang="en-US" sz="1150" dirty="0"/>
          </a:p>
        </p:txBody>
      </p:sp>
      <p:sp>
        <p:nvSpPr>
          <p:cNvPr id="21" name="Text 19"/>
          <p:cNvSpPr/>
          <p:nvPr/>
        </p:nvSpPr>
        <p:spPr>
          <a:xfrm>
            <a:off x="502920" y="4846320"/>
            <a:ext cx="5029200" cy="274320"/>
          </a:xfrm>
          <a:prstGeom prst="rect">
            <a:avLst/>
          </a:prstGeom>
          <a:noFill/>
          <a:ln/>
        </p:spPr>
        <p:txBody>
          <a:bodyPr wrap="square" rtlCol="0" anchor="ctr"/>
          <a:lstStyle/>
          <a:p>
            <a:pPr marL="0" indent="0">
              <a:buNone/>
            </a:pPr>
            <a:r>
              <a:rPr lang="en-US" sz="1200" b="1" dirty="0">
                <a:solidFill>
                  <a:srgbClr val="0E4C6B"/>
                </a:solidFill>
                <a:latin typeface="Calibri" pitchFamily="34" charset="0"/>
                <a:ea typeface="Calibri" pitchFamily="34" charset="-122"/>
                <a:cs typeface="Calibri" pitchFamily="34" charset="-120"/>
              </a:rPr>
              <a:t>ε-closure table for the sample ε-NFA</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5166360"/>
          <a:ext cx="4206240" cy="1051560"/>
        </p:xfrm>
        <a:graphic>
          <a:graphicData uri="http://schemas.openxmlformats.org/drawingml/2006/table">
            <a:tbl>
              <a:tblPr/>
              <a:tblGrid>
                <a:gridCol w="16459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tblGrid>
              <a:tr h="26289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State</a:t>
                      </a:r>
                      <a:endParaRPr lang="en-US" sz="1100" dirty="0">
                        <a:latin typeface="Calibri" charset="0"/>
                        <a:ea typeface="Calibri" charset="0"/>
                        <a:cs typeface="Calibri" charset="0"/>
                      </a:endParaRPr>
                    </a:p>
                  </a:txBody>
                  <a:tcPr>
                    <a:lnL w="12700" cap="flat" cmpd="sng" algn="ctr">
                      <a:solidFill>
                        <a:srgbClr val="C9D6DE"/>
                      </a:solidFill>
                      <a:prstDash val="solid"/>
                      <a:round/>
                      <a:headEnd type="none" w="med" len="med"/>
                      <a:tailEnd type="none" w="med" len="med"/>
                    </a:lnL>
                    <a:lnR w="12700" cap="flat" cmpd="sng" algn="ctr">
                      <a:solidFill>
                        <a:srgbClr val="C9D6DE"/>
                      </a:solidFill>
                      <a:prstDash val="solid"/>
                      <a:round/>
                      <a:headEnd type="none" w="med" len="med"/>
                      <a:tailEnd type="none" w="med" len="med"/>
                    </a:lnR>
                    <a:lnT w="12700" cap="flat" cmpd="sng" algn="ctr">
                      <a:solidFill>
                        <a:srgbClr val="C9D6DE"/>
                      </a:solidFill>
                      <a:prstDash val="solid"/>
                      <a:round/>
                      <a:headEnd type="none" w="med" len="med"/>
                      <a:tailEnd type="none" w="med" len="med"/>
                    </a:lnT>
                    <a:lnB w="12700" cap="flat" cmpd="sng" algn="ctr">
                      <a:solidFill>
                        <a:srgbClr val="C9D6DE"/>
                      </a:solidFill>
                      <a:prstDash val="solid"/>
                      <a:round/>
                      <a:headEnd type="none" w="med" len="med"/>
                      <a:tailEnd type="none" w="med" len="med"/>
                    </a:lnB>
                    <a:solidFill>
                      <a:srgbClr val="0B1F3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ε-closure</a:t>
                      </a:r>
                      <a:endParaRPr lang="en-US" sz="1100" dirty="0">
                        <a:latin typeface="Calibri" charset="0"/>
                        <a:ea typeface="Calibri" charset="0"/>
                        <a:cs typeface="Calibri" charset="0"/>
                      </a:endParaRPr>
                    </a:p>
                  </a:txBody>
                  <a:tcPr>
                    <a:lnL w="12700" cap="flat" cmpd="sng" algn="ctr">
                      <a:solidFill>
                        <a:srgbClr val="C9D6DE"/>
                      </a:solidFill>
                      <a:prstDash val="solid"/>
                      <a:round/>
                      <a:headEnd type="none" w="med" len="med"/>
                      <a:tailEnd type="none" w="med" len="med"/>
                    </a:lnL>
                    <a:lnR w="12700" cap="flat" cmpd="sng" algn="ctr">
                      <a:solidFill>
                        <a:srgbClr val="C9D6DE"/>
                      </a:solidFill>
                      <a:prstDash val="solid"/>
                      <a:round/>
                      <a:headEnd type="none" w="med" len="med"/>
                      <a:tailEnd type="none" w="med" len="med"/>
                    </a:lnR>
                    <a:lnT w="12700" cap="flat" cmpd="sng" algn="ctr">
                      <a:solidFill>
                        <a:srgbClr val="C9D6DE"/>
                      </a:solidFill>
                      <a:prstDash val="solid"/>
                      <a:round/>
                      <a:headEnd type="none" w="med" len="med"/>
                      <a:tailEnd type="none" w="med" len="med"/>
                    </a:lnT>
                    <a:lnB w="12700" cap="flat" cmpd="sng" algn="ctr">
                      <a:solidFill>
                        <a:srgbClr val="C9D6DE"/>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26289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q0</a:t>
                      </a:r>
                      <a:endParaRPr lang="en-US" sz="1100" dirty="0">
                        <a:latin typeface="Calibri" charset="0"/>
                        <a:ea typeface="Calibri" charset="0"/>
                        <a:cs typeface="Calibri" charset="0"/>
                      </a:endParaRPr>
                    </a:p>
                  </a:txBody>
                  <a:tcPr>
                    <a:lnL w="12700" cap="flat" cmpd="sng" algn="ctr">
                      <a:solidFill>
                        <a:srgbClr val="C9D6DE"/>
                      </a:solidFill>
                      <a:prstDash val="solid"/>
                      <a:round/>
                      <a:headEnd type="none" w="med" len="med"/>
                      <a:tailEnd type="none" w="med" len="med"/>
                    </a:lnL>
                    <a:lnR w="12700" cap="flat" cmpd="sng" algn="ctr">
                      <a:solidFill>
                        <a:srgbClr val="C9D6DE"/>
                      </a:solidFill>
                      <a:prstDash val="solid"/>
                      <a:round/>
                      <a:headEnd type="none" w="med" len="med"/>
                      <a:tailEnd type="none" w="med" len="med"/>
                    </a:lnR>
                    <a:lnT w="12700" cap="flat" cmpd="sng" algn="ctr">
                      <a:solidFill>
                        <a:srgbClr val="C9D6DE"/>
                      </a:solidFill>
                      <a:prstDash val="solid"/>
                      <a:round/>
                      <a:headEnd type="none" w="med" len="med"/>
                      <a:tailEnd type="none" w="med" len="med"/>
                    </a:lnT>
                    <a:lnB w="12700" cap="flat" cmpd="sng" algn="ctr">
                      <a:solidFill>
                        <a:srgbClr val="C9D6D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{q0, q1}</a:t>
                      </a:r>
                      <a:endParaRPr lang="en-US" sz="1100" dirty="0">
                        <a:latin typeface="Calibri" charset="0"/>
                        <a:ea typeface="Calibri" charset="0"/>
                        <a:cs typeface="Calibri" charset="0"/>
                      </a:endParaRPr>
                    </a:p>
                  </a:txBody>
                  <a:tcPr>
                    <a:lnL w="12700" cap="flat" cmpd="sng" algn="ctr">
                      <a:solidFill>
                        <a:srgbClr val="C9D6DE"/>
                      </a:solidFill>
                      <a:prstDash val="solid"/>
                      <a:round/>
                      <a:headEnd type="none" w="med" len="med"/>
                      <a:tailEnd type="none" w="med" len="med"/>
                    </a:lnL>
                    <a:lnR w="12700" cap="flat" cmpd="sng" algn="ctr">
                      <a:solidFill>
                        <a:srgbClr val="C9D6DE"/>
                      </a:solidFill>
                      <a:prstDash val="solid"/>
                      <a:round/>
                      <a:headEnd type="none" w="med" len="med"/>
                      <a:tailEnd type="none" w="med" len="med"/>
                    </a:lnR>
                    <a:lnT w="12700" cap="flat" cmpd="sng" algn="ctr">
                      <a:solidFill>
                        <a:srgbClr val="C9D6DE"/>
                      </a:solidFill>
                      <a:prstDash val="solid"/>
                      <a:round/>
                      <a:headEnd type="none" w="med" len="med"/>
                      <a:tailEnd type="none" w="med" len="med"/>
                    </a:lnT>
                    <a:lnB w="12700" cap="flat" cmpd="sng" algn="ctr">
                      <a:solidFill>
                        <a:srgbClr val="C9D6DE"/>
                      </a:solidFill>
                      <a:prstDash val="solid"/>
                      <a:round/>
                      <a:headEnd type="none" w="med" len="med"/>
                      <a:tailEnd type="none" w="med" len="med"/>
                    </a:lnB>
                  </a:tcPr>
                </a:tc>
                <a:extLst>
                  <a:ext uri="{0D108BD9-81ED-4DB2-BD59-A6C34878D82A}">
                    <a16:rowId xmlns:a16="http://schemas.microsoft.com/office/drawing/2014/main" val="10001"/>
                  </a:ext>
                </a:extLst>
              </a:tr>
              <a:tr h="26289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q1</a:t>
                      </a:r>
                      <a:endParaRPr lang="en-US" sz="1100" dirty="0">
                        <a:latin typeface="Calibri" charset="0"/>
                        <a:ea typeface="Calibri" charset="0"/>
                        <a:cs typeface="Calibri" charset="0"/>
                      </a:endParaRPr>
                    </a:p>
                  </a:txBody>
                  <a:tcPr>
                    <a:lnL w="12700" cap="flat" cmpd="sng" algn="ctr">
                      <a:solidFill>
                        <a:srgbClr val="C9D6DE"/>
                      </a:solidFill>
                      <a:prstDash val="solid"/>
                      <a:round/>
                      <a:headEnd type="none" w="med" len="med"/>
                      <a:tailEnd type="none" w="med" len="med"/>
                    </a:lnL>
                    <a:lnR w="12700" cap="flat" cmpd="sng" algn="ctr">
                      <a:solidFill>
                        <a:srgbClr val="C9D6DE"/>
                      </a:solidFill>
                      <a:prstDash val="solid"/>
                      <a:round/>
                      <a:headEnd type="none" w="med" len="med"/>
                      <a:tailEnd type="none" w="med" len="med"/>
                    </a:lnR>
                    <a:lnT w="12700" cap="flat" cmpd="sng" algn="ctr">
                      <a:solidFill>
                        <a:srgbClr val="C9D6DE"/>
                      </a:solidFill>
                      <a:prstDash val="solid"/>
                      <a:round/>
                      <a:headEnd type="none" w="med" len="med"/>
                      <a:tailEnd type="none" w="med" len="med"/>
                    </a:lnT>
                    <a:lnB w="12700" cap="flat" cmpd="sng" algn="ctr">
                      <a:solidFill>
                        <a:srgbClr val="C9D6D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{q1}</a:t>
                      </a:r>
                      <a:endParaRPr lang="en-US" sz="1100" dirty="0">
                        <a:latin typeface="Calibri" charset="0"/>
                        <a:ea typeface="Calibri" charset="0"/>
                        <a:cs typeface="Calibri" charset="0"/>
                      </a:endParaRPr>
                    </a:p>
                  </a:txBody>
                  <a:tcPr>
                    <a:lnL w="12700" cap="flat" cmpd="sng" algn="ctr">
                      <a:solidFill>
                        <a:srgbClr val="C9D6DE"/>
                      </a:solidFill>
                      <a:prstDash val="solid"/>
                      <a:round/>
                      <a:headEnd type="none" w="med" len="med"/>
                      <a:tailEnd type="none" w="med" len="med"/>
                    </a:lnL>
                    <a:lnR w="12700" cap="flat" cmpd="sng" algn="ctr">
                      <a:solidFill>
                        <a:srgbClr val="C9D6DE"/>
                      </a:solidFill>
                      <a:prstDash val="solid"/>
                      <a:round/>
                      <a:headEnd type="none" w="med" len="med"/>
                      <a:tailEnd type="none" w="med" len="med"/>
                    </a:lnR>
                    <a:lnT w="12700" cap="flat" cmpd="sng" algn="ctr">
                      <a:solidFill>
                        <a:srgbClr val="C9D6DE"/>
                      </a:solidFill>
                      <a:prstDash val="solid"/>
                      <a:round/>
                      <a:headEnd type="none" w="med" len="med"/>
                      <a:tailEnd type="none" w="med" len="med"/>
                    </a:lnT>
                    <a:lnB w="12700" cap="flat" cmpd="sng" algn="ctr">
                      <a:solidFill>
                        <a:srgbClr val="C9D6DE"/>
                      </a:solidFill>
                      <a:prstDash val="solid"/>
                      <a:round/>
                      <a:headEnd type="none" w="med" len="med"/>
                      <a:tailEnd type="none" w="med" len="med"/>
                    </a:lnB>
                  </a:tcPr>
                </a:tc>
                <a:extLst>
                  <a:ext uri="{0D108BD9-81ED-4DB2-BD59-A6C34878D82A}">
                    <a16:rowId xmlns:a16="http://schemas.microsoft.com/office/drawing/2014/main" val="10002"/>
                  </a:ext>
                </a:extLst>
              </a:tr>
              <a:tr h="26289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q2</a:t>
                      </a:r>
                      <a:endParaRPr lang="en-US" sz="1100" dirty="0">
                        <a:latin typeface="Calibri" charset="0"/>
                        <a:ea typeface="Calibri" charset="0"/>
                        <a:cs typeface="Calibri" charset="0"/>
                      </a:endParaRPr>
                    </a:p>
                  </a:txBody>
                  <a:tcPr>
                    <a:lnL w="12700" cap="flat" cmpd="sng" algn="ctr">
                      <a:solidFill>
                        <a:srgbClr val="C9D6DE"/>
                      </a:solidFill>
                      <a:prstDash val="solid"/>
                      <a:round/>
                      <a:headEnd type="none" w="med" len="med"/>
                      <a:tailEnd type="none" w="med" len="med"/>
                    </a:lnL>
                    <a:lnR w="12700" cap="flat" cmpd="sng" algn="ctr">
                      <a:solidFill>
                        <a:srgbClr val="C9D6DE"/>
                      </a:solidFill>
                      <a:prstDash val="solid"/>
                      <a:round/>
                      <a:headEnd type="none" w="med" len="med"/>
                      <a:tailEnd type="none" w="med" len="med"/>
                    </a:lnR>
                    <a:lnT w="12700" cap="flat" cmpd="sng" algn="ctr">
                      <a:solidFill>
                        <a:srgbClr val="C9D6DE"/>
                      </a:solidFill>
                      <a:prstDash val="solid"/>
                      <a:round/>
                      <a:headEnd type="none" w="med" len="med"/>
                      <a:tailEnd type="none" w="med" len="med"/>
                    </a:lnT>
                    <a:lnB w="12700" cap="flat" cmpd="sng" algn="ctr">
                      <a:solidFill>
                        <a:srgbClr val="C9D6D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{q2}</a:t>
                      </a:r>
                      <a:endParaRPr lang="en-US" sz="1100" dirty="0">
                        <a:latin typeface="Calibri" charset="0"/>
                        <a:ea typeface="Calibri" charset="0"/>
                        <a:cs typeface="Calibri" charset="0"/>
                      </a:endParaRPr>
                    </a:p>
                  </a:txBody>
                  <a:tcPr>
                    <a:lnL w="12700" cap="flat" cmpd="sng" algn="ctr">
                      <a:solidFill>
                        <a:srgbClr val="C9D6DE"/>
                      </a:solidFill>
                      <a:prstDash val="solid"/>
                      <a:round/>
                      <a:headEnd type="none" w="med" len="med"/>
                      <a:tailEnd type="none" w="med" len="med"/>
                    </a:lnL>
                    <a:lnR w="12700" cap="flat" cmpd="sng" algn="ctr">
                      <a:solidFill>
                        <a:srgbClr val="C9D6DE"/>
                      </a:solidFill>
                      <a:prstDash val="solid"/>
                      <a:round/>
                      <a:headEnd type="none" w="med" len="med"/>
                      <a:tailEnd type="none" w="med" len="med"/>
                    </a:lnR>
                    <a:lnT w="12700" cap="flat" cmpd="sng" algn="ctr">
                      <a:solidFill>
                        <a:srgbClr val="C9D6DE"/>
                      </a:solidFill>
                      <a:prstDash val="solid"/>
                      <a:round/>
                      <a:headEnd type="none" w="med" len="med"/>
                      <a:tailEnd type="none" w="med" len="med"/>
                    </a:lnT>
                    <a:lnB w="12700" cap="flat" cmpd="sng" algn="ctr">
                      <a:solidFill>
                        <a:srgbClr val="C9D6DE"/>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3" name="Text 20"/>
          <p:cNvSpPr/>
          <p:nvPr/>
        </p:nvSpPr>
        <p:spPr>
          <a:xfrm>
            <a:off x="6263640" y="1325880"/>
            <a:ext cx="3657600" cy="274320"/>
          </a:xfrm>
          <a:prstGeom prst="rect">
            <a:avLst/>
          </a:prstGeom>
          <a:noFill/>
          <a:ln/>
        </p:spPr>
        <p:txBody>
          <a:bodyPr wrap="square" rtlCol="0" anchor="ctr"/>
          <a:lstStyle/>
          <a:p>
            <a:pPr marL="0" indent="0">
              <a:buNone/>
            </a:pPr>
            <a:r>
              <a:rPr lang="en-US" sz="1200" b="1" dirty="0">
                <a:solidFill>
                  <a:srgbClr val="0E4C6B"/>
                </a:solidFill>
                <a:latin typeface="Calibri" pitchFamily="34" charset="0"/>
                <a:ea typeface="Calibri" pitchFamily="34" charset="-122"/>
                <a:cs typeface="Calibri" pitchFamily="34" charset="-120"/>
              </a:rPr>
              <a:t>ε-NFA  (Σ = {0,1})</a:t>
            </a:r>
            <a:endParaRPr lang="en-US" sz="1200" dirty="0"/>
          </a:p>
        </p:txBody>
      </p:sp>
      <p:sp>
        <p:nvSpPr>
          <p:cNvPr id="24" name="Shape 21"/>
          <p:cNvSpPr/>
          <p:nvPr/>
        </p:nvSpPr>
        <p:spPr>
          <a:xfrm>
            <a:off x="6035040" y="2148840"/>
            <a:ext cx="457200" cy="0"/>
          </a:xfrm>
          <a:prstGeom prst="line">
            <a:avLst/>
          </a:prstGeom>
          <a:noFill/>
          <a:ln w="28575">
            <a:solidFill>
              <a:srgbClr val="0E4C6B"/>
            </a:solidFill>
            <a:prstDash val="solid"/>
            <a:tailEnd type="triangle"/>
          </a:ln>
        </p:spPr>
      </p:sp>
      <p:sp>
        <p:nvSpPr>
          <p:cNvPr id="25" name="Shape 22"/>
          <p:cNvSpPr/>
          <p:nvPr/>
        </p:nvSpPr>
        <p:spPr>
          <a:xfrm>
            <a:off x="6492240" y="1783080"/>
            <a:ext cx="731520" cy="731520"/>
          </a:xfrm>
          <a:prstGeom prst="ellipse">
            <a:avLst/>
          </a:prstGeom>
          <a:solidFill>
            <a:srgbClr val="FFFFFF"/>
          </a:solidFill>
          <a:ln w="28575">
            <a:solidFill>
              <a:srgbClr val="0E4C6B"/>
            </a:solidFill>
            <a:prstDash val="solid"/>
          </a:ln>
        </p:spPr>
      </p:sp>
      <p:sp>
        <p:nvSpPr>
          <p:cNvPr id="26" name="Text 23"/>
          <p:cNvSpPr/>
          <p:nvPr/>
        </p:nvSpPr>
        <p:spPr>
          <a:xfrm>
            <a:off x="6492240" y="1783080"/>
            <a:ext cx="731520" cy="731520"/>
          </a:xfrm>
          <a:prstGeom prst="rect">
            <a:avLst/>
          </a:prstGeom>
          <a:noFill/>
          <a:ln/>
        </p:spPr>
        <p:txBody>
          <a:bodyPr wrap="square" lIns="0" tIns="0" rIns="0" bIns="0" rtlCol="0" anchor="ctr"/>
          <a:lstStyle/>
          <a:p>
            <a:pPr marL="0" indent="0" algn="ctr">
              <a:buNone/>
            </a:pPr>
            <a:r>
              <a:rPr lang="en-US" sz="1300" b="1" dirty="0">
                <a:solidFill>
                  <a:srgbClr val="16232E"/>
                </a:solidFill>
                <a:latin typeface="Calibri" pitchFamily="34" charset="0"/>
                <a:ea typeface="Calibri" pitchFamily="34" charset="-122"/>
                <a:cs typeface="Calibri" pitchFamily="34" charset="-120"/>
              </a:rPr>
              <a:t>q0</a:t>
            </a:r>
            <a:endParaRPr lang="en-US" sz="1300" dirty="0"/>
          </a:p>
        </p:txBody>
      </p:sp>
      <p:sp>
        <p:nvSpPr>
          <p:cNvPr id="27" name="Shape 24"/>
          <p:cNvSpPr/>
          <p:nvPr/>
        </p:nvSpPr>
        <p:spPr>
          <a:xfrm>
            <a:off x="8138160" y="1783080"/>
            <a:ext cx="731520" cy="731520"/>
          </a:xfrm>
          <a:prstGeom prst="ellipse">
            <a:avLst/>
          </a:prstGeom>
          <a:solidFill>
            <a:srgbClr val="FFFFFF"/>
          </a:solidFill>
          <a:ln w="28575">
            <a:solidFill>
              <a:srgbClr val="0E4C6B"/>
            </a:solidFill>
            <a:prstDash val="solid"/>
          </a:ln>
        </p:spPr>
      </p:sp>
      <p:sp>
        <p:nvSpPr>
          <p:cNvPr id="28" name="Text 25"/>
          <p:cNvSpPr/>
          <p:nvPr/>
        </p:nvSpPr>
        <p:spPr>
          <a:xfrm>
            <a:off x="8138160" y="1783080"/>
            <a:ext cx="731520" cy="731520"/>
          </a:xfrm>
          <a:prstGeom prst="rect">
            <a:avLst/>
          </a:prstGeom>
          <a:noFill/>
          <a:ln/>
        </p:spPr>
        <p:txBody>
          <a:bodyPr wrap="square" lIns="0" tIns="0" rIns="0" bIns="0" rtlCol="0" anchor="ctr"/>
          <a:lstStyle/>
          <a:p>
            <a:pPr marL="0" indent="0" algn="ctr">
              <a:buNone/>
            </a:pPr>
            <a:r>
              <a:rPr lang="en-US" sz="1300" b="1" dirty="0">
                <a:solidFill>
                  <a:srgbClr val="16232E"/>
                </a:solidFill>
                <a:latin typeface="Calibri" pitchFamily="34" charset="0"/>
                <a:ea typeface="Calibri" pitchFamily="34" charset="-122"/>
                <a:cs typeface="Calibri" pitchFamily="34" charset="-120"/>
              </a:rPr>
              <a:t>q1</a:t>
            </a:r>
            <a:endParaRPr lang="en-US" sz="1300" dirty="0"/>
          </a:p>
        </p:txBody>
      </p:sp>
      <p:sp>
        <p:nvSpPr>
          <p:cNvPr id="29" name="Shape 26"/>
          <p:cNvSpPr/>
          <p:nvPr/>
        </p:nvSpPr>
        <p:spPr>
          <a:xfrm>
            <a:off x="9729216" y="1728216"/>
            <a:ext cx="841248" cy="841248"/>
          </a:xfrm>
          <a:prstGeom prst="ellipse">
            <a:avLst/>
          </a:prstGeom>
          <a:noFill/>
          <a:ln w="19050">
            <a:solidFill>
              <a:srgbClr val="0E4C6B"/>
            </a:solidFill>
            <a:prstDash val="solid"/>
          </a:ln>
        </p:spPr>
      </p:sp>
      <p:sp>
        <p:nvSpPr>
          <p:cNvPr id="30" name="Shape 27"/>
          <p:cNvSpPr/>
          <p:nvPr/>
        </p:nvSpPr>
        <p:spPr>
          <a:xfrm>
            <a:off x="9784080" y="1783080"/>
            <a:ext cx="731520" cy="731520"/>
          </a:xfrm>
          <a:prstGeom prst="ellipse">
            <a:avLst/>
          </a:prstGeom>
          <a:solidFill>
            <a:srgbClr val="FFFFFF"/>
          </a:solidFill>
          <a:ln w="28575">
            <a:solidFill>
              <a:srgbClr val="0E4C6B"/>
            </a:solidFill>
            <a:prstDash val="solid"/>
          </a:ln>
        </p:spPr>
      </p:sp>
      <p:sp>
        <p:nvSpPr>
          <p:cNvPr id="31" name="Text 28"/>
          <p:cNvSpPr/>
          <p:nvPr/>
        </p:nvSpPr>
        <p:spPr>
          <a:xfrm>
            <a:off x="9784080" y="1783080"/>
            <a:ext cx="731520" cy="731520"/>
          </a:xfrm>
          <a:prstGeom prst="rect">
            <a:avLst/>
          </a:prstGeom>
          <a:noFill/>
          <a:ln/>
        </p:spPr>
        <p:txBody>
          <a:bodyPr wrap="square" lIns="0" tIns="0" rIns="0" bIns="0" rtlCol="0" anchor="ctr"/>
          <a:lstStyle/>
          <a:p>
            <a:pPr marL="0" indent="0" algn="ctr">
              <a:buNone/>
            </a:pPr>
            <a:r>
              <a:rPr lang="en-US" sz="1300" b="1" dirty="0">
                <a:solidFill>
                  <a:srgbClr val="16232E"/>
                </a:solidFill>
                <a:latin typeface="Calibri" pitchFamily="34" charset="0"/>
                <a:ea typeface="Calibri" pitchFamily="34" charset="-122"/>
                <a:cs typeface="Calibri" pitchFamily="34" charset="-120"/>
              </a:rPr>
              <a:t>q2</a:t>
            </a:r>
            <a:endParaRPr lang="en-US" sz="1300" dirty="0"/>
          </a:p>
        </p:txBody>
      </p:sp>
      <p:sp>
        <p:nvSpPr>
          <p:cNvPr id="32" name="Shape 29"/>
          <p:cNvSpPr/>
          <p:nvPr/>
        </p:nvSpPr>
        <p:spPr>
          <a:xfrm>
            <a:off x="7242048" y="2148840"/>
            <a:ext cx="877824" cy="9144"/>
          </a:xfrm>
          <a:prstGeom prst="line">
            <a:avLst/>
          </a:prstGeom>
          <a:noFill/>
          <a:ln w="25400">
            <a:solidFill>
              <a:srgbClr val="5B6B79"/>
            </a:solidFill>
            <a:prstDash val="solid"/>
            <a:tailEnd type="triangle"/>
          </a:ln>
        </p:spPr>
      </p:sp>
      <p:sp>
        <p:nvSpPr>
          <p:cNvPr id="33" name="Text 30"/>
          <p:cNvSpPr/>
          <p:nvPr/>
        </p:nvSpPr>
        <p:spPr>
          <a:xfrm>
            <a:off x="7360920" y="1837944"/>
            <a:ext cx="640080" cy="274320"/>
          </a:xfrm>
          <a:prstGeom prst="rect">
            <a:avLst/>
          </a:prstGeom>
          <a:solidFill>
            <a:srgbClr val="EAF4F7"/>
          </a:solidFill>
          <a:ln/>
        </p:spPr>
        <p:txBody>
          <a:bodyPr wrap="square" lIns="0" tIns="0" rIns="0" bIns="0" rtlCol="0" anchor="ctr"/>
          <a:lstStyle/>
          <a:p>
            <a:pPr marL="0" indent="0" algn="ctr">
              <a:buNone/>
            </a:pPr>
            <a:r>
              <a:rPr lang="en-US" sz="1150" b="1" dirty="0">
                <a:solidFill>
                  <a:srgbClr val="16232E"/>
                </a:solidFill>
                <a:latin typeface="Calibri" pitchFamily="34" charset="0"/>
                <a:ea typeface="Calibri" pitchFamily="34" charset="-122"/>
                <a:cs typeface="Calibri" pitchFamily="34" charset="-120"/>
              </a:rPr>
              <a:t>ε</a:t>
            </a:r>
            <a:endParaRPr lang="en-US" sz="1150" dirty="0"/>
          </a:p>
        </p:txBody>
      </p:sp>
      <p:sp>
        <p:nvSpPr>
          <p:cNvPr id="34" name="Shape 31"/>
          <p:cNvSpPr/>
          <p:nvPr/>
        </p:nvSpPr>
        <p:spPr>
          <a:xfrm>
            <a:off x="8887968" y="2148840"/>
            <a:ext cx="877824" cy="9144"/>
          </a:xfrm>
          <a:prstGeom prst="line">
            <a:avLst/>
          </a:prstGeom>
          <a:noFill/>
          <a:ln w="25400">
            <a:solidFill>
              <a:srgbClr val="5B6B79"/>
            </a:solidFill>
            <a:prstDash val="solid"/>
            <a:tailEnd type="triangle"/>
          </a:ln>
        </p:spPr>
      </p:sp>
      <p:sp>
        <p:nvSpPr>
          <p:cNvPr id="35" name="Text 32"/>
          <p:cNvSpPr/>
          <p:nvPr/>
        </p:nvSpPr>
        <p:spPr>
          <a:xfrm>
            <a:off x="9006840" y="1837944"/>
            <a:ext cx="640080" cy="274320"/>
          </a:xfrm>
          <a:prstGeom prst="rect">
            <a:avLst/>
          </a:prstGeom>
          <a:solidFill>
            <a:srgbClr val="EAF4F7"/>
          </a:solidFill>
          <a:ln/>
        </p:spPr>
        <p:txBody>
          <a:bodyPr wrap="square" lIns="0" tIns="0" rIns="0" bIns="0" rtlCol="0" anchor="ctr"/>
          <a:lstStyle/>
          <a:p>
            <a:pPr marL="0" indent="0" algn="ctr">
              <a:buNone/>
            </a:pPr>
            <a:r>
              <a:rPr lang="en-US" sz="1150" b="1" dirty="0">
                <a:solidFill>
                  <a:srgbClr val="16232E"/>
                </a:solidFill>
                <a:latin typeface="Calibri" pitchFamily="34" charset="0"/>
                <a:ea typeface="Calibri" pitchFamily="34" charset="-122"/>
                <a:cs typeface="Calibri" pitchFamily="34" charset="-120"/>
              </a:rPr>
              <a:t>0</a:t>
            </a:r>
            <a:endParaRPr lang="en-US" sz="1150" dirty="0"/>
          </a:p>
        </p:txBody>
      </p:sp>
      <p:sp>
        <p:nvSpPr>
          <p:cNvPr id="36" name="Shape 33"/>
          <p:cNvSpPr/>
          <p:nvPr/>
        </p:nvSpPr>
        <p:spPr>
          <a:xfrm>
            <a:off x="8211312" y="1325880"/>
            <a:ext cx="585216" cy="457200"/>
          </a:xfrm>
          <a:prstGeom prst="arc">
            <a:avLst>
              <a:gd name="adj1" fmla="val 12000000"/>
              <a:gd name="adj2" fmla="val 20400000"/>
            </a:avLst>
          </a:prstGeom>
          <a:noFill/>
          <a:ln w="25400">
            <a:solidFill>
              <a:srgbClr val="5B6B79"/>
            </a:solidFill>
            <a:prstDash val="solid"/>
          </a:ln>
        </p:spPr>
      </p:sp>
      <p:sp>
        <p:nvSpPr>
          <p:cNvPr id="37" name="Shape 34"/>
          <p:cNvSpPr/>
          <p:nvPr/>
        </p:nvSpPr>
        <p:spPr>
          <a:xfrm rot="6600000">
            <a:off x="8650224" y="1618488"/>
            <a:ext cx="100584" cy="100584"/>
          </a:xfrm>
          <a:prstGeom prst="triangle">
            <a:avLst/>
          </a:prstGeom>
          <a:solidFill>
            <a:srgbClr val="5B6B79"/>
          </a:solidFill>
          <a:ln w="12700">
            <a:solidFill>
              <a:srgbClr val="5B6B79"/>
            </a:solidFill>
            <a:prstDash val="solid"/>
          </a:ln>
        </p:spPr>
      </p:sp>
      <p:sp>
        <p:nvSpPr>
          <p:cNvPr id="38" name="Text 35"/>
          <p:cNvSpPr/>
          <p:nvPr/>
        </p:nvSpPr>
        <p:spPr>
          <a:xfrm>
            <a:off x="8138160" y="1005840"/>
            <a:ext cx="731520" cy="274320"/>
          </a:xfrm>
          <a:prstGeom prst="rect">
            <a:avLst/>
          </a:prstGeom>
          <a:noFill/>
          <a:ln/>
        </p:spPr>
        <p:txBody>
          <a:bodyPr wrap="square" lIns="0" tIns="0" rIns="0" bIns="0" rtlCol="0" anchor="ctr"/>
          <a:lstStyle/>
          <a:p>
            <a:pPr marL="0" indent="0" algn="ctr">
              <a:buNone/>
            </a:pPr>
            <a:r>
              <a:rPr lang="en-US" sz="1150" b="1" dirty="0">
                <a:solidFill>
                  <a:srgbClr val="16232E"/>
                </a:solidFill>
                <a:latin typeface="Calibri" pitchFamily="34" charset="0"/>
                <a:ea typeface="Calibri" pitchFamily="34" charset="-122"/>
                <a:cs typeface="Calibri" pitchFamily="34" charset="-120"/>
              </a:rPr>
              <a:t>1</a:t>
            </a:r>
            <a:endParaRPr lang="en-US" sz="1150" dirty="0"/>
          </a:p>
        </p:txBody>
      </p:sp>
      <p:sp>
        <p:nvSpPr>
          <p:cNvPr id="39" name="Text 36"/>
          <p:cNvSpPr/>
          <p:nvPr/>
        </p:nvSpPr>
        <p:spPr>
          <a:xfrm>
            <a:off x="6263640" y="3291840"/>
            <a:ext cx="4206240" cy="274320"/>
          </a:xfrm>
          <a:prstGeom prst="rect">
            <a:avLst/>
          </a:prstGeom>
          <a:noFill/>
          <a:ln/>
        </p:spPr>
        <p:txBody>
          <a:bodyPr wrap="square" rtlCol="0" anchor="ctr"/>
          <a:lstStyle/>
          <a:p>
            <a:pPr marL="0" indent="0">
              <a:buNone/>
            </a:pPr>
            <a:r>
              <a:rPr lang="en-US" sz="1200" b="1" dirty="0">
                <a:solidFill>
                  <a:srgbClr val="0E4C6B"/>
                </a:solidFill>
                <a:latin typeface="Calibri" pitchFamily="34" charset="0"/>
                <a:ea typeface="Calibri" pitchFamily="34" charset="-122"/>
                <a:cs typeface="Calibri" pitchFamily="34" charset="-120"/>
              </a:rPr>
              <a:t>Equivalent DFA (via ε-closures)</a:t>
            </a:r>
            <a:endParaRPr lang="en-US" sz="1200" dirty="0"/>
          </a:p>
        </p:txBody>
      </p:sp>
      <p:sp>
        <p:nvSpPr>
          <p:cNvPr id="40" name="Shape 37"/>
          <p:cNvSpPr/>
          <p:nvPr/>
        </p:nvSpPr>
        <p:spPr>
          <a:xfrm>
            <a:off x="5852160" y="4251960"/>
            <a:ext cx="457200" cy="0"/>
          </a:xfrm>
          <a:prstGeom prst="line">
            <a:avLst/>
          </a:prstGeom>
          <a:noFill/>
          <a:ln w="28575">
            <a:solidFill>
              <a:srgbClr val="0E4C6B"/>
            </a:solidFill>
            <a:prstDash val="solid"/>
            <a:tailEnd type="triangle"/>
          </a:ln>
        </p:spPr>
      </p:sp>
      <p:sp>
        <p:nvSpPr>
          <p:cNvPr id="41" name="Shape 38"/>
          <p:cNvSpPr/>
          <p:nvPr/>
        </p:nvSpPr>
        <p:spPr>
          <a:xfrm>
            <a:off x="6309360" y="3794760"/>
            <a:ext cx="914400" cy="914400"/>
          </a:xfrm>
          <a:prstGeom prst="ellipse">
            <a:avLst/>
          </a:prstGeom>
          <a:solidFill>
            <a:srgbClr val="FFFFFF"/>
          </a:solidFill>
          <a:ln w="28575">
            <a:solidFill>
              <a:srgbClr val="0E4C6B"/>
            </a:solidFill>
            <a:prstDash val="solid"/>
          </a:ln>
        </p:spPr>
      </p:sp>
      <p:sp>
        <p:nvSpPr>
          <p:cNvPr id="42" name="Text 39"/>
          <p:cNvSpPr/>
          <p:nvPr/>
        </p:nvSpPr>
        <p:spPr>
          <a:xfrm>
            <a:off x="6309360" y="3794760"/>
            <a:ext cx="914400" cy="914400"/>
          </a:xfrm>
          <a:prstGeom prst="rect">
            <a:avLst/>
          </a:prstGeom>
          <a:noFill/>
          <a:ln/>
        </p:spPr>
        <p:txBody>
          <a:bodyPr wrap="square" lIns="0" tIns="0" rIns="0" bIns="0" rtlCol="0" anchor="ctr"/>
          <a:lstStyle/>
          <a:p>
            <a:pPr marL="0" indent="0" algn="ctr">
              <a:buNone/>
            </a:pPr>
            <a:r>
              <a:rPr lang="en-US" sz="900" b="1" dirty="0">
                <a:solidFill>
                  <a:srgbClr val="16232E"/>
                </a:solidFill>
                <a:latin typeface="Calibri" pitchFamily="34" charset="0"/>
                <a:ea typeface="Calibri" pitchFamily="34" charset="-122"/>
                <a:cs typeface="Calibri" pitchFamily="34" charset="-120"/>
              </a:rPr>
              <a:t>{q0,q1}</a:t>
            </a:r>
            <a:endParaRPr lang="en-US" sz="900" dirty="0"/>
          </a:p>
        </p:txBody>
      </p:sp>
      <p:sp>
        <p:nvSpPr>
          <p:cNvPr id="43" name="Shape 40"/>
          <p:cNvSpPr/>
          <p:nvPr/>
        </p:nvSpPr>
        <p:spPr>
          <a:xfrm>
            <a:off x="8229600" y="3794760"/>
            <a:ext cx="914400" cy="914400"/>
          </a:xfrm>
          <a:prstGeom prst="ellipse">
            <a:avLst/>
          </a:prstGeom>
          <a:solidFill>
            <a:srgbClr val="FFFFFF"/>
          </a:solidFill>
          <a:ln w="28575">
            <a:solidFill>
              <a:srgbClr val="0E4C6B"/>
            </a:solidFill>
            <a:prstDash val="solid"/>
          </a:ln>
        </p:spPr>
      </p:sp>
      <p:sp>
        <p:nvSpPr>
          <p:cNvPr id="44" name="Text 41"/>
          <p:cNvSpPr/>
          <p:nvPr/>
        </p:nvSpPr>
        <p:spPr>
          <a:xfrm>
            <a:off x="8229600" y="3794760"/>
            <a:ext cx="914400" cy="914400"/>
          </a:xfrm>
          <a:prstGeom prst="rect">
            <a:avLst/>
          </a:prstGeom>
          <a:noFill/>
          <a:ln/>
        </p:spPr>
        <p:txBody>
          <a:bodyPr wrap="square" lIns="0" tIns="0" rIns="0" bIns="0" rtlCol="0" anchor="ctr"/>
          <a:lstStyle/>
          <a:p>
            <a:pPr marL="0" indent="0" algn="ctr">
              <a:buNone/>
            </a:pPr>
            <a:r>
              <a:rPr lang="en-US" sz="1000" b="1" dirty="0">
                <a:solidFill>
                  <a:srgbClr val="16232E"/>
                </a:solidFill>
                <a:latin typeface="Calibri" pitchFamily="34" charset="0"/>
                <a:ea typeface="Calibri" pitchFamily="34" charset="-122"/>
                <a:cs typeface="Calibri" pitchFamily="34" charset="-120"/>
              </a:rPr>
              <a:t>{q1}</a:t>
            </a:r>
            <a:endParaRPr lang="en-US" sz="1000" dirty="0"/>
          </a:p>
        </p:txBody>
      </p:sp>
      <p:sp>
        <p:nvSpPr>
          <p:cNvPr id="45" name="Shape 42"/>
          <p:cNvSpPr/>
          <p:nvPr/>
        </p:nvSpPr>
        <p:spPr>
          <a:xfrm>
            <a:off x="8174736" y="5111496"/>
            <a:ext cx="1024128" cy="1024128"/>
          </a:xfrm>
          <a:prstGeom prst="ellipse">
            <a:avLst/>
          </a:prstGeom>
          <a:noFill/>
          <a:ln w="19050">
            <a:solidFill>
              <a:srgbClr val="0E4C6B"/>
            </a:solidFill>
            <a:prstDash val="solid"/>
          </a:ln>
        </p:spPr>
      </p:sp>
      <p:sp>
        <p:nvSpPr>
          <p:cNvPr id="46" name="Shape 43"/>
          <p:cNvSpPr/>
          <p:nvPr/>
        </p:nvSpPr>
        <p:spPr>
          <a:xfrm>
            <a:off x="8229600" y="5166360"/>
            <a:ext cx="914400" cy="914400"/>
          </a:xfrm>
          <a:prstGeom prst="ellipse">
            <a:avLst/>
          </a:prstGeom>
          <a:solidFill>
            <a:srgbClr val="FFFFFF"/>
          </a:solidFill>
          <a:ln w="28575">
            <a:solidFill>
              <a:srgbClr val="0E4C6B"/>
            </a:solidFill>
            <a:prstDash val="solid"/>
          </a:ln>
        </p:spPr>
      </p:sp>
      <p:sp>
        <p:nvSpPr>
          <p:cNvPr id="47" name="Text 44"/>
          <p:cNvSpPr/>
          <p:nvPr/>
        </p:nvSpPr>
        <p:spPr>
          <a:xfrm>
            <a:off x="8229600" y="5166360"/>
            <a:ext cx="914400" cy="914400"/>
          </a:xfrm>
          <a:prstGeom prst="rect">
            <a:avLst/>
          </a:prstGeom>
          <a:noFill/>
          <a:ln/>
        </p:spPr>
        <p:txBody>
          <a:bodyPr wrap="square" lIns="0" tIns="0" rIns="0" bIns="0" rtlCol="0" anchor="ctr"/>
          <a:lstStyle/>
          <a:p>
            <a:pPr marL="0" indent="0" algn="ctr">
              <a:buNone/>
            </a:pPr>
            <a:r>
              <a:rPr lang="en-US" sz="1000" b="1" dirty="0">
                <a:solidFill>
                  <a:srgbClr val="16232E"/>
                </a:solidFill>
                <a:latin typeface="Calibri" pitchFamily="34" charset="0"/>
                <a:ea typeface="Calibri" pitchFamily="34" charset="-122"/>
                <a:cs typeface="Calibri" pitchFamily="34" charset="-120"/>
              </a:rPr>
              <a:t>{q2}</a:t>
            </a:r>
            <a:endParaRPr lang="en-US" sz="1000" dirty="0"/>
          </a:p>
        </p:txBody>
      </p:sp>
      <p:sp>
        <p:nvSpPr>
          <p:cNvPr id="48" name="Shape 45"/>
          <p:cNvSpPr/>
          <p:nvPr/>
        </p:nvSpPr>
        <p:spPr>
          <a:xfrm>
            <a:off x="7150608" y="4251960"/>
            <a:ext cx="1152144" cy="9144"/>
          </a:xfrm>
          <a:prstGeom prst="line">
            <a:avLst/>
          </a:prstGeom>
          <a:noFill/>
          <a:ln w="25400">
            <a:solidFill>
              <a:srgbClr val="5B6B79"/>
            </a:solidFill>
            <a:prstDash val="solid"/>
            <a:tailEnd type="triangle"/>
          </a:ln>
        </p:spPr>
      </p:sp>
      <p:sp>
        <p:nvSpPr>
          <p:cNvPr id="49" name="Text 46"/>
          <p:cNvSpPr/>
          <p:nvPr/>
        </p:nvSpPr>
        <p:spPr>
          <a:xfrm>
            <a:off x="7406640" y="3941064"/>
            <a:ext cx="640080" cy="274320"/>
          </a:xfrm>
          <a:prstGeom prst="rect">
            <a:avLst/>
          </a:prstGeom>
          <a:solidFill>
            <a:srgbClr val="EAF4F7"/>
          </a:solidFill>
          <a:ln/>
        </p:spPr>
        <p:txBody>
          <a:bodyPr wrap="square" lIns="0" tIns="0" rIns="0" bIns="0" rtlCol="0" anchor="ctr"/>
          <a:lstStyle/>
          <a:p>
            <a:pPr marL="0" indent="0" algn="ctr">
              <a:buNone/>
            </a:pPr>
            <a:r>
              <a:rPr lang="en-US" sz="1150" b="1" dirty="0">
                <a:solidFill>
                  <a:srgbClr val="16232E"/>
                </a:solidFill>
                <a:latin typeface="Calibri" pitchFamily="34" charset="0"/>
                <a:ea typeface="Calibri" pitchFamily="34" charset="-122"/>
                <a:cs typeface="Calibri" pitchFamily="34" charset="-120"/>
              </a:rPr>
              <a:t>1</a:t>
            </a:r>
            <a:endParaRPr lang="en-US" sz="1150" dirty="0"/>
          </a:p>
        </p:txBody>
      </p:sp>
      <p:sp>
        <p:nvSpPr>
          <p:cNvPr id="50" name="Shape 47"/>
          <p:cNvSpPr/>
          <p:nvPr/>
        </p:nvSpPr>
        <p:spPr>
          <a:xfrm>
            <a:off x="6473952" y="3337560"/>
            <a:ext cx="585216" cy="457200"/>
          </a:xfrm>
          <a:prstGeom prst="arc">
            <a:avLst>
              <a:gd name="adj1" fmla="val 12000000"/>
              <a:gd name="adj2" fmla="val 20400000"/>
            </a:avLst>
          </a:prstGeom>
          <a:noFill/>
          <a:ln w="25400">
            <a:solidFill>
              <a:srgbClr val="5B6B79"/>
            </a:solidFill>
            <a:prstDash val="solid"/>
          </a:ln>
        </p:spPr>
      </p:sp>
      <p:sp>
        <p:nvSpPr>
          <p:cNvPr id="51" name="Shape 48"/>
          <p:cNvSpPr/>
          <p:nvPr/>
        </p:nvSpPr>
        <p:spPr>
          <a:xfrm rot="6600000">
            <a:off x="6912864" y="3630168"/>
            <a:ext cx="100584" cy="100584"/>
          </a:xfrm>
          <a:prstGeom prst="triangle">
            <a:avLst/>
          </a:prstGeom>
          <a:solidFill>
            <a:srgbClr val="5B6B79"/>
          </a:solidFill>
          <a:ln w="12700">
            <a:solidFill>
              <a:srgbClr val="5B6B79"/>
            </a:solidFill>
            <a:prstDash val="solid"/>
          </a:ln>
        </p:spPr>
      </p:sp>
      <p:sp>
        <p:nvSpPr>
          <p:cNvPr id="52" name="Text 49"/>
          <p:cNvSpPr/>
          <p:nvPr/>
        </p:nvSpPr>
        <p:spPr>
          <a:xfrm>
            <a:off x="6400800" y="3017520"/>
            <a:ext cx="731520" cy="274320"/>
          </a:xfrm>
          <a:prstGeom prst="rect">
            <a:avLst/>
          </a:prstGeom>
          <a:noFill/>
          <a:ln/>
        </p:spPr>
        <p:txBody>
          <a:bodyPr wrap="square" lIns="0" tIns="0" rIns="0" bIns="0" rtlCol="0" anchor="ctr"/>
          <a:lstStyle/>
          <a:p>
            <a:pPr marL="0" indent="0" algn="ctr">
              <a:buNone/>
            </a:pPr>
            <a:r>
              <a:rPr lang="en-US" sz="1150" b="1" dirty="0">
                <a:solidFill>
                  <a:srgbClr val="16232E"/>
                </a:solidFill>
                <a:latin typeface="Calibri" pitchFamily="34" charset="0"/>
                <a:ea typeface="Calibri" pitchFamily="34" charset="-122"/>
                <a:cs typeface="Calibri" pitchFamily="34" charset="-120"/>
              </a:rPr>
              <a:t>0</a:t>
            </a:r>
            <a:endParaRPr lang="en-US" sz="1150" dirty="0"/>
          </a:p>
        </p:txBody>
      </p:sp>
      <p:sp>
        <p:nvSpPr>
          <p:cNvPr id="53" name="Shape 50"/>
          <p:cNvSpPr/>
          <p:nvPr/>
        </p:nvSpPr>
        <p:spPr>
          <a:xfrm>
            <a:off x="8686800" y="4636008"/>
            <a:ext cx="9144" cy="603504"/>
          </a:xfrm>
          <a:prstGeom prst="line">
            <a:avLst/>
          </a:prstGeom>
          <a:noFill/>
          <a:ln w="25400">
            <a:solidFill>
              <a:srgbClr val="5B6B79"/>
            </a:solidFill>
            <a:prstDash val="solid"/>
            <a:tailEnd type="triangle"/>
          </a:ln>
        </p:spPr>
      </p:sp>
      <p:sp>
        <p:nvSpPr>
          <p:cNvPr id="54" name="Text 51"/>
          <p:cNvSpPr/>
          <p:nvPr/>
        </p:nvSpPr>
        <p:spPr>
          <a:xfrm>
            <a:off x="8366760" y="4626864"/>
            <a:ext cx="640080" cy="274320"/>
          </a:xfrm>
          <a:prstGeom prst="rect">
            <a:avLst/>
          </a:prstGeom>
          <a:solidFill>
            <a:srgbClr val="EAF4F7"/>
          </a:solidFill>
          <a:ln/>
        </p:spPr>
        <p:txBody>
          <a:bodyPr wrap="square" lIns="0" tIns="0" rIns="0" bIns="0" rtlCol="0" anchor="ctr"/>
          <a:lstStyle/>
          <a:p>
            <a:pPr marL="0" indent="0" algn="ctr">
              <a:buNone/>
            </a:pPr>
            <a:r>
              <a:rPr lang="en-US" sz="1150" b="1" dirty="0">
                <a:solidFill>
                  <a:srgbClr val="16232E"/>
                </a:solidFill>
                <a:latin typeface="Calibri" pitchFamily="34" charset="0"/>
                <a:ea typeface="Calibri" pitchFamily="34" charset="-122"/>
                <a:cs typeface="Calibri" pitchFamily="34" charset="-120"/>
              </a:rPr>
              <a:t>0</a:t>
            </a:r>
            <a:endParaRPr lang="en-US" sz="1150" dirty="0"/>
          </a:p>
        </p:txBody>
      </p:sp>
      <p:sp>
        <p:nvSpPr>
          <p:cNvPr id="55" name="Shape 52"/>
          <p:cNvSpPr/>
          <p:nvPr/>
        </p:nvSpPr>
        <p:spPr>
          <a:xfrm>
            <a:off x="8394192" y="3337560"/>
            <a:ext cx="585216" cy="457200"/>
          </a:xfrm>
          <a:prstGeom prst="arc">
            <a:avLst>
              <a:gd name="adj1" fmla="val 12000000"/>
              <a:gd name="adj2" fmla="val 20400000"/>
            </a:avLst>
          </a:prstGeom>
          <a:noFill/>
          <a:ln w="25400">
            <a:solidFill>
              <a:srgbClr val="5B6B79"/>
            </a:solidFill>
            <a:prstDash val="solid"/>
          </a:ln>
        </p:spPr>
      </p:sp>
      <p:sp>
        <p:nvSpPr>
          <p:cNvPr id="56" name="Shape 53"/>
          <p:cNvSpPr/>
          <p:nvPr/>
        </p:nvSpPr>
        <p:spPr>
          <a:xfrm rot="6600000">
            <a:off x="8860552" y="3592689"/>
            <a:ext cx="100584" cy="100584"/>
          </a:xfrm>
          <a:prstGeom prst="triangle">
            <a:avLst/>
          </a:prstGeom>
          <a:solidFill>
            <a:srgbClr val="5B6B79"/>
          </a:solidFill>
          <a:ln w="12700">
            <a:solidFill>
              <a:srgbClr val="5B6B79"/>
            </a:solidFill>
            <a:prstDash val="solid"/>
          </a:ln>
        </p:spPr>
      </p:sp>
      <p:sp>
        <p:nvSpPr>
          <p:cNvPr id="57" name="Text 54"/>
          <p:cNvSpPr/>
          <p:nvPr/>
        </p:nvSpPr>
        <p:spPr>
          <a:xfrm>
            <a:off x="8321040" y="3017520"/>
            <a:ext cx="731520" cy="274320"/>
          </a:xfrm>
          <a:prstGeom prst="rect">
            <a:avLst/>
          </a:prstGeom>
          <a:noFill/>
          <a:ln/>
        </p:spPr>
        <p:txBody>
          <a:bodyPr wrap="square" lIns="0" tIns="0" rIns="0" bIns="0" rtlCol="0" anchor="ctr"/>
          <a:lstStyle/>
          <a:p>
            <a:pPr marL="0" indent="0" algn="ctr">
              <a:buNone/>
            </a:pPr>
            <a:r>
              <a:rPr lang="en-US" sz="1150" b="1" dirty="0">
                <a:solidFill>
                  <a:srgbClr val="16232E"/>
                </a:solidFill>
                <a:latin typeface="Calibri" pitchFamily="34" charset="0"/>
                <a:ea typeface="Calibri" pitchFamily="34" charset="-122"/>
                <a:cs typeface="Calibri" pitchFamily="34" charset="-120"/>
              </a:rPr>
              <a:t>1</a:t>
            </a:r>
            <a:endParaRPr lang="en-US" sz="1150" dirty="0"/>
          </a:p>
        </p:txBody>
      </p:sp>
      <p:sp>
        <p:nvSpPr>
          <p:cNvPr id="58" name="Text 55"/>
          <p:cNvSpPr/>
          <p:nvPr/>
        </p:nvSpPr>
        <p:spPr>
          <a:xfrm>
            <a:off x="457200" y="6528816"/>
            <a:ext cx="7772400" cy="274320"/>
          </a:xfrm>
          <a:prstGeom prst="rect">
            <a:avLst/>
          </a:prstGeom>
          <a:noFill/>
          <a:ln/>
        </p:spPr>
        <p:txBody>
          <a:bodyPr wrap="square" rtlCol="0" anchor="ctr"/>
          <a:lstStyle/>
          <a:p>
            <a:pPr marL="0" indent="0">
              <a:buNone/>
            </a:pPr>
            <a:r>
              <a:rPr lang="en-US" sz="950" dirty="0">
                <a:solidFill>
                  <a:srgbClr val="5B6B79"/>
                </a:solidFill>
                <a:latin typeface="Calibri" pitchFamily="34" charset="0"/>
                <a:ea typeface="Calibri" pitchFamily="34" charset="-122"/>
                <a:cs typeface="Calibri" pitchFamily="34" charset="-120"/>
              </a:rPr>
              <a:t>CO1 · Theory of Computation (CSA13) · Technical Presentation</a:t>
            </a:r>
            <a:endParaRPr lang="en-US" sz="950" dirty="0"/>
          </a:p>
        </p:txBody>
      </p:sp>
      <p:sp>
        <p:nvSpPr>
          <p:cNvPr id="59" name="Text 56"/>
          <p:cNvSpPr/>
          <p:nvPr/>
        </p:nvSpPr>
        <p:spPr>
          <a:xfrm>
            <a:off x="11430000" y="6528816"/>
            <a:ext cx="365760" cy="274320"/>
          </a:xfrm>
          <a:prstGeom prst="rect">
            <a:avLst/>
          </a:prstGeom>
          <a:noFill/>
          <a:ln/>
        </p:spPr>
        <p:txBody>
          <a:bodyPr wrap="square" rtlCol="0" anchor="ctr"/>
          <a:lstStyle/>
          <a:p>
            <a:pPr marL="0" indent="0" algn="r">
              <a:buNone/>
            </a:pPr>
            <a:r>
              <a:rPr lang="en-US" sz="950" dirty="0">
                <a:solidFill>
                  <a:srgbClr val="5B6B79"/>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888</Words>
  <Application>Microsoft Office PowerPoint</Application>
  <PresentationFormat>Widescreen</PresentationFormat>
  <Paragraphs>147</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Yoga Narasimha</cp:lastModifiedBy>
  <cp:revision>2</cp:revision>
  <dcterms:created xsi:type="dcterms:W3CDTF">2026-07-26T14:31:52Z</dcterms:created>
  <dcterms:modified xsi:type="dcterms:W3CDTF">2026-07-26T17:04:41Z</dcterms:modified>
</cp:coreProperties>
</file>